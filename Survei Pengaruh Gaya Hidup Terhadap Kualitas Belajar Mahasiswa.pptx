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Yeseva One" charset="1" panose="00000500000000000000"/>
      <p:regular r:id="rId34"/>
    </p:embeddedFont>
    <p:embeddedFont>
      <p:font typeface="Garet" charset="1" panose="00000000000000000000"/>
      <p:regular r:id="rId35"/>
    </p:embeddedFont>
    <p:embeddedFont>
      <p:font typeface="Garet Bold" charset="1" panose="00000000000000000000"/>
      <p:regular r:id="rId36"/>
    </p:embeddedFont>
    <p:embeddedFont>
      <p:font typeface="Canva Sans" charset="1" panose="020B0503030501040103"/>
      <p:regular r:id="rId37"/>
    </p:embeddedFont>
    <p:embeddedFont>
      <p:font typeface="Canva Sans Bold" charset="1" panose="020B0803030501040103"/>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docs.google.com/forms/d/e/1FAIpQLScWrl--P29v2gyQqAc8NcYHyeETi-mdYmKfmZ0X9L2hlv2kJA/viewform?usp=header]" TargetMode="External" Type="http://schemas.openxmlformats.org/officeDocument/2006/relationships/hyperlink"/><Relationship Id="rId4" Target="https://github.com/adindaadeliafutri6-gif/Data-responden-survey-pengaruh-gaya-hidup-terhadap-kualitas-belajar-mahasiswa" TargetMode="External" Type="http://schemas.openxmlformats.org/officeDocument/2006/relationships/hyperlink"/><Relationship Id="rId5" Target="https://rpubs.com/futri0055/1432628" TargetMode="External" Type="http://schemas.openxmlformats.org/officeDocument/2006/relationships/hyperlink"/><Relationship Id="rId6" Target="https://rpubs.com/futri0055/1432628" TargetMode="External" Type="http://schemas.openxmlformats.org/officeDocument/2006/relationships/hyperlink"/></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42108" y="3533025"/>
            <a:ext cx="13179930" cy="6801194"/>
          </a:xfrm>
          <a:prstGeom prst="rect">
            <a:avLst/>
          </a:prstGeom>
        </p:spPr>
        <p:txBody>
          <a:bodyPr anchor="t" rtlCol="false" tIns="0" lIns="0" bIns="0" rIns="0">
            <a:spAutoFit/>
          </a:bodyPr>
          <a:lstStyle/>
          <a:p>
            <a:pPr algn="ctr">
              <a:lnSpc>
                <a:spcPts val="8381"/>
              </a:lnSpc>
            </a:pPr>
            <a:r>
              <a:rPr lang="en-US" sz="5986">
                <a:solidFill>
                  <a:srgbClr val="0D0F68"/>
                </a:solidFill>
                <a:latin typeface="Yeseva One"/>
                <a:ea typeface="Yeseva One"/>
                <a:cs typeface="Yeseva One"/>
                <a:sym typeface="Yeseva One"/>
              </a:rPr>
              <a:t>SURVEI PENGARUH GAYA HIDUP TERHADAP KUALITAS BELAJAR MAHASISWA</a:t>
            </a:r>
          </a:p>
          <a:p>
            <a:pPr algn="ctr">
              <a:lnSpc>
                <a:spcPts val="14680"/>
              </a:lnSpc>
            </a:pPr>
          </a:p>
          <a:p>
            <a:pPr algn="ctr">
              <a:lnSpc>
                <a:spcPts val="14680"/>
              </a:lnSpc>
            </a:pPr>
          </a:p>
        </p:txBody>
      </p:sp>
      <p:sp>
        <p:nvSpPr>
          <p:cNvPr name="TextBox 4" id="4"/>
          <p:cNvSpPr txBox="true"/>
          <p:nvPr/>
        </p:nvSpPr>
        <p:spPr>
          <a:xfrm rot="0">
            <a:off x="3303711" y="6890760"/>
            <a:ext cx="11680579" cy="863600"/>
          </a:xfrm>
          <a:prstGeom prst="rect">
            <a:avLst/>
          </a:prstGeom>
        </p:spPr>
        <p:txBody>
          <a:bodyPr anchor="t" rtlCol="false" tIns="0" lIns="0" bIns="0" rIns="0">
            <a:spAutoFit/>
          </a:bodyPr>
          <a:lstStyle/>
          <a:p>
            <a:pPr algn="ctr">
              <a:lnSpc>
                <a:spcPts val="7000"/>
              </a:lnSpc>
            </a:pPr>
            <a:r>
              <a:rPr lang="en-US" sz="5000">
                <a:solidFill>
                  <a:srgbClr val="000000"/>
                </a:solidFill>
                <a:latin typeface="Garet"/>
                <a:ea typeface="Garet"/>
                <a:cs typeface="Garet"/>
                <a:sym typeface="Garet"/>
              </a:rPr>
              <a:t>Kelompok 5</a:t>
            </a:r>
          </a:p>
        </p:txBody>
      </p:sp>
      <p:sp>
        <p:nvSpPr>
          <p:cNvPr name="TextBox 5" id="5"/>
          <p:cNvSpPr txBox="true"/>
          <p:nvPr/>
        </p:nvSpPr>
        <p:spPr>
          <a:xfrm rot="0">
            <a:off x="3303711" y="2965394"/>
            <a:ext cx="11680579" cy="514350"/>
          </a:xfrm>
          <a:prstGeom prst="rect">
            <a:avLst/>
          </a:prstGeom>
        </p:spPr>
        <p:txBody>
          <a:bodyPr anchor="t" rtlCol="false" tIns="0" lIns="0" bIns="0" rIns="0">
            <a:spAutoFit/>
          </a:bodyPr>
          <a:lstStyle/>
          <a:p>
            <a:pPr algn="ctr">
              <a:lnSpc>
                <a:spcPts val="4200"/>
              </a:lnSpc>
            </a:pPr>
            <a:r>
              <a:rPr lang="en-US" sz="3000">
                <a:solidFill>
                  <a:srgbClr val="000000"/>
                </a:solidFill>
                <a:latin typeface="Garet"/>
                <a:ea typeface="Garet"/>
                <a:cs typeface="Garet"/>
                <a:sym typeface="Garet"/>
              </a:rPr>
              <a:t>Teknik Survey dan Sampling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580046" y="419812"/>
            <a:ext cx="17095862" cy="9479422"/>
            <a:chOff x="0" y="0"/>
            <a:chExt cx="4502614" cy="2496638"/>
          </a:xfrm>
        </p:grpSpPr>
        <p:sp>
          <p:nvSpPr>
            <p:cNvPr name="Freeform 4" id="4"/>
            <p:cNvSpPr/>
            <p:nvPr/>
          </p:nvSpPr>
          <p:spPr>
            <a:xfrm flipH="false" flipV="false" rot="0">
              <a:off x="0" y="0"/>
              <a:ext cx="4502614" cy="2496638"/>
            </a:xfrm>
            <a:custGeom>
              <a:avLst/>
              <a:gdLst/>
              <a:ahLst/>
              <a:cxnLst/>
              <a:rect r="r" b="b" t="t" l="l"/>
              <a:pathLst>
                <a:path h="2496638" w="4502614">
                  <a:moveTo>
                    <a:pt x="23096" y="0"/>
                  </a:moveTo>
                  <a:lnTo>
                    <a:pt x="4479518" y="0"/>
                  </a:lnTo>
                  <a:cubicBezTo>
                    <a:pt x="4492274" y="0"/>
                    <a:pt x="4502614" y="10340"/>
                    <a:pt x="4502614" y="23096"/>
                  </a:cubicBezTo>
                  <a:lnTo>
                    <a:pt x="4502614" y="2473542"/>
                  </a:lnTo>
                  <a:cubicBezTo>
                    <a:pt x="4502614" y="2486298"/>
                    <a:pt x="4492274" y="2496638"/>
                    <a:pt x="4479518" y="2496638"/>
                  </a:cubicBezTo>
                  <a:lnTo>
                    <a:pt x="23096" y="2496638"/>
                  </a:lnTo>
                  <a:cubicBezTo>
                    <a:pt x="10340" y="2496638"/>
                    <a:pt x="0" y="2486298"/>
                    <a:pt x="0" y="2473542"/>
                  </a:cubicBezTo>
                  <a:lnTo>
                    <a:pt x="0" y="23096"/>
                  </a:lnTo>
                  <a:cubicBezTo>
                    <a:pt x="0" y="10340"/>
                    <a:pt x="10340" y="0"/>
                    <a:pt x="23096" y="0"/>
                  </a:cubicBezTo>
                  <a:close/>
                </a:path>
              </a:pathLst>
            </a:custGeom>
            <a:solidFill>
              <a:srgbClr val="FBFBFB">
                <a:alpha val="89804"/>
              </a:srgbClr>
            </a:solidFill>
          </p:spPr>
        </p:sp>
        <p:sp>
          <p:nvSpPr>
            <p:cNvPr name="TextBox 5" id="5"/>
            <p:cNvSpPr txBox="true"/>
            <p:nvPr/>
          </p:nvSpPr>
          <p:spPr>
            <a:xfrm>
              <a:off x="0" y="-38100"/>
              <a:ext cx="4502614" cy="253473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948168" y="293054"/>
            <a:ext cx="6391665" cy="1318892"/>
          </a:xfrm>
          <a:prstGeom prst="rect">
            <a:avLst/>
          </a:prstGeom>
        </p:spPr>
        <p:txBody>
          <a:bodyPr anchor="t" rtlCol="false" tIns="0" lIns="0" bIns="0" rIns="0">
            <a:spAutoFit/>
          </a:bodyPr>
          <a:lstStyle/>
          <a:p>
            <a:pPr algn="ctr">
              <a:lnSpc>
                <a:spcPts val="10780"/>
              </a:lnSpc>
            </a:pPr>
            <a:r>
              <a:rPr lang="en-US" sz="7700">
                <a:solidFill>
                  <a:srgbClr val="0D0F68"/>
                </a:solidFill>
                <a:latin typeface="Yeseva One"/>
                <a:ea typeface="Yeseva One"/>
                <a:cs typeface="Yeseva One"/>
                <a:sym typeface="Yeseva One"/>
              </a:rPr>
              <a:t>Anggota</a:t>
            </a:r>
          </a:p>
        </p:txBody>
      </p:sp>
      <p:grpSp>
        <p:nvGrpSpPr>
          <p:cNvPr name="Group 7" id="7"/>
          <p:cNvGrpSpPr/>
          <p:nvPr/>
        </p:nvGrpSpPr>
        <p:grpSpPr>
          <a:xfrm rot="0">
            <a:off x="1028700" y="1611946"/>
            <a:ext cx="7133667" cy="3240677"/>
            <a:chOff x="0" y="0"/>
            <a:chExt cx="1878826" cy="853512"/>
          </a:xfrm>
        </p:grpSpPr>
        <p:sp>
          <p:nvSpPr>
            <p:cNvPr name="Freeform 8" id="8"/>
            <p:cNvSpPr/>
            <p:nvPr/>
          </p:nvSpPr>
          <p:spPr>
            <a:xfrm flipH="false" flipV="false" rot="0">
              <a:off x="0" y="0"/>
              <a:ext cx="1878826" cy="853512"/>
            </a:xfrm>
            <a:custGeom>
              <a:avLst/>
              <a:gdLst/>
              <a:ahLst/>
              <a:cxnLst/>
              <a:rect r="r" b="b" t="t" l="l"/>
              <a:pathLst>
                <a:path h="853512" w="1878826">
                  <a:moveTo>
                    <a:pt x="55349" y="0"/>
                  </a:moveTo>
                  <a:lnTo>
                    <a:pt x="1823477" y="0"/>
                  </a:lnTo>
                  <a:cubicBezTo>
                    <a:pt x="1838157" y="0"/>
                    <a:pt x="1852235" y="5831"/>
                    <a:pt x="1862615" y="16211"/>
                  </a:cubicBezTo>
                  <a:cubicBezTo>
                    <a:pt x="1872994" y="26591"/>
                    <a:pt x="1878826" y="40669"/>
                    <a:pt x="1878826" y="55349"/>
                  </a:cubicBezTo>
                  <a:lnTo>
                    <a:pt x="1878826" y="798163"/>
                  </a:lnTo>
                  <a:cubicBezTo>
                    <a:pt x="1878826" y="828731"/>
                    <a:pt x="1854045" y="853512"/>
                    <a:pt x="1823477" y="853512"/>
                  </a:cubicBezTo>
                  <a:lnTo>
                    <a:pt x="55349" y="853512"/>
                  </a:lnTo>
                  <a:cubicBezTo>
                    <a:pt x="40669" y="853512"/>
                    <a:pt x="26591" y="847680"/>
                    <a:pt x="16211" y="837300"/>
                  </a:cubicBezTo>
                  <a:cubicBezTo>
                    <a:pt x="5831" y="826921"/>
                    <a:pt x="0" y="812842"/>
                    <a:pt x="0" y="798163"/>
                  </a:cubicBezTo>
                  <a:lnTo>
                    <a:pt x="0" y="55349"/>
                  </a:lnTo>
                  <a:cubicBezTo>
                    <a:pt x="0" y="40669"/>
                    <a:pt x="5831" y="26591"/>
                    <a:pt x="16211" y="16211"/>
                  </a:cubicBezTo>
                  <a:cubicBezTo>
                    <a:pt x="26591" y="5831"/>
                    <a:pt x="40669" y="0"/>
                    <a:pt x="55349" y="0"/>
                  </a:cubicBezTo>
                  <a:close/>
                </a:path>
              </a:pathLst>
            </a:custGeom>
            <a:solidFill>
              <a:srgbClr val="65A4CD"/>
            </a:solidFill>
            <a:ln cap="rnd">
              <a:noFill/>
              <a:prstDash val="dash"/>
              <a:round/>
            </a:ln>
          </p:spPr>
        </p:sp>
        <p:sp>
          <p:nvSpPr>
            <p:cNvPr name="TextBox 9" id="9"/>
            <p:cNvSpPr txBox="true"/>
            <p:nvPr/>
          </p:nvSpPr>
          <p:spPr>
            <a:xfrm>
              <a:off x="0" y="-38100"/>
              <a:ext cx="1878826" cy="89161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028700" y="1658343"/>
            <a:ext cx="783739" cy="674687"/>
          </a:xfrm>
          <a:prstGeom prst="rect">
            <a:avLst/>
          </a:prstGeom>
        </p:spPr>
        <p:txBody>
          <a:bodyPr anchor="t" rtlCol="false" tIns="0" lIns="0" bIns="0" rIns="0">
            <a:spAutoFit/>
          </a:bodyPr>
          <a:lstStyle/>
          <a:p>
            <a:pPr algn="ctr">
              <a:lnSpc>
                <a:spcPts val="5585"/>
              </a:lnSpc>
            </a:pPr>
            <a:r>
              <a:rPr lang="en-US" b="true" sz="3989">
                <a:solidFill>
                  <a:srgbClr val="000000"/>
                </a:solidFill>
                <a:latin typeface="Garet Bold"/>
                <a:ea typeface="Garet Bold"/>
                <a:cs typeface="Garet Bold"/>
                <a:sym typeface="Garet Bold"/>
              </a:rPr>
              <a:t>01</a:t>
            </a:r>
          </a:p>
        </p:txBody>
      </p:sp>
      <p:sp>
        <p:nvSpPr>
          <p:cNvPr name="TextBox 11" id="11"/>
          <p:cNvSpPr txBox="true"/>
          <p:nvPr/>
        </p:nvSpPr>
        <p:spPr>
          <a:xfrm rot="0">
            <a:off x="1998170" y="1658343"/>
            <a:ext cx="5532310" cy="596900"/>
          </a:xfrm>
          <a:prstGeom prst="rect">
            <a:avLst/>
          </a:prstGeom>
        </p:spPr>
        <p:txBody>
          <a:bodyPr anchor="t" rtlCol="false" tIns="0" lIns="0" bIns="0" rIns="0">
            <a:spAutoFit/>
          </a:bodyPr>
          <a:lstStyle/>
          <a:p>
            <a:pPr algn="l">
              <a:lnSpc>
                <a:spcPts val="4900"/>
              </a:lnSpc>
            </a:pPr>
            <a:r>
              <a:rPr lang="en-US" sz="3500">
                <a:solidFill>
                  <a:srgbClr val="000000"/>
                </a:solidFill>
                <a:latin typeface="Garet"/>
                <a:ea typeface="Garet"/>
                <a:cs typeface="Garet"/>
                <a:sym typeface="Garet"/>
              </a:rPr>
              <a:t>Chandra Rizal Alamsyah</a:t>
            </a:r>
          </a:p>
        </p:txBody>
      </p:sp>
      <p:grpSp>
        <p:nvGrpSpPr>
          <p:cNvPr name="Group 12" id="12"/>
          <p:cNvGrpSpPr/>
          <p:nvPr/>
        </p:nvGrpSpPr>
        <p:grpSpPr>
          <a:xfrm rot="0">
            <a:off x="9556243" y="1611946"/>
            <a:ext cx="7287250" cy="3240677"/>
            <a:chOff x="0" y="0"/>
            <a:chExt cx="1919276" cy="853512"/>
          </a:xfrm>
        </p:grpSpPr>
        <p:sp>
          <p:nvSpPr>
            <p:cNvPr name="Freeform 13" id="13"/>
            <p:cNvSpPr/>
            <p:nvPr/>
          </p:nvSpPr>
          <p:spPr>
            <a:xfrm flipH="false" flipV="false" rot="0">
              <a:off x="0" y="0"/>
              <a:ext cx="1919276" cy="853512"/>
            </a:xfrm>
            <a:custGeom>
              <a:avLst/>
              <a:gdLst/>
              <a:ahLst/>
              <a:cxnLst/>
              <a:rect r="r" b="b" t="t" l="l"/>
              <a:pathLst>
                <a:path h="853512" w="1919276">
                  <a:moveTo>
                    <a:pt x="54182" y="0"/>
                  </a:moveTo>
                  <a:lnTo>
                    <a:pt x="1865094" y="0"/>
                  </a:lnTo>
                  <a:cubicBezTo>
                    <a:pt x="1879464" y="0"/>
                    <a:pt x="1893245" y="5708"/>
                    <a:pt x="1903406" y="15870"/>
                  </a:cubicBezTo>
                  <a:cubicBezTo>
                    <a:pt x="1913568" y="26031"/>
                    <a:pt x="1919276" y="39812"/>
                    <a:pt x="1919276" y="54182"/>
                  </a:cubicBezTo>
                  <a:lnTo>
                    <a:pt x="1919276" y="799330"/>
                  </a:lnTo>
                  <a:cubicBezTo>
                    <a:pt x="1919276" y="813700"/>
                    <a:pt x="1913568" y="827481"/>
                    <a:pt x="1903406" y="837642"/>
                  </a:cubicBezTo>
                  <a:cubicBezTo>
                    <a:pt x="1893245" y="847803"/>
                    <a:pt x="1879464" y="853512"/>
                    <a:pt x="1865094" y="853512"/>
                  </a:cubicBezTo>
                  <a:lnTo>
                    <a:pt x="54182" y="853512"/>
                  </a:lnTo>
                  <a:cubicBezTo>
                    <a:pt x="39812" y="853512"/>
                    <a:pt x="26031" y="847803"/>
                    <a:pt x="15870" y="837642"/>
                  </a:cubicBezTo>
                  <a:cubicBezTo>
                    <a:pt x="5708" y="827481"/>
                    <a:pt x="0" y="813700"/>
                    <a:pt x="0" y="799330"/>
                  </a:cubicBezTo>
                  <a:lnTo>
                    <a:pt x="0" y="54182"/>
                  </a:lnTo>
                  <a:cubicBezTo>
                    <a:pt x="0" y="39812"/>
                    <a:pt x="5708" y="26031"/>
                    <a:pt x="15870" y="15870"/>
                  </a:cubicBezTo>
                  <a:cubicBezTo>
                    <a:pt x="26031" y="5708"/>
                    <a:pt x="39812" y="0"/>
                    <a:pt x="54182" y="0"/>
                  </a:cubicBezTo>
                  <a:close/>
                </a:path>
              </a:pathLst>
            </a:custGeom>
            <a:solidFill>
              <a:srgbClr val="C7DEEB"/>
            </a:solidFill>
          </p:spPr>
        </p:sp>
        <p:sp>
          <p:nvSpPr>
            <p:cNvPr name="TextBox 14" id="14"/>
            <p:cNvSpPr txBox="true"/>
            <p:nvPr/>
          </p:nvSpPr>
          <p:spPr>
            <a:xfrm>
              <a:off x="0" y="-38100"/>
              <a:ext cx="1919276" cy="891612"/>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9798951" y="1662852"/>
            <a:ext cx="884008" cy="670179"/>
          </a:xfrm>
          <a:prstGeom prst="rect">
            <a:avLst/>
          </a:prstGeom>
        </p:spPr>
        <p:txBody>
          <a:bodyPr anchor="t" rtlCol="false" tIns="0" lIns="0" bIns="0" rIns="0">
            <a:spAutoFit/>
          </a:bodyPr>
          <a:lstStyle/>
          <a:p>
            <a:pPr algn="ctr">
              <a:lnSpc>
                <a:spcPts val="5586"/>
              </a:lnSpc>
            </a:pPr>
            <a:r>
              <a:rPr lang="en-US" b="true" sz="3990">
                <a:solidFill>
                  <a:srgbClr val="000000"/>
                </a:solidFill>
                <a:latin typeface="Garet Bold"/>
                <a:ea typeface="Garet Bold"/>
                <a:cs typeface="Garet Bold"/>
                <a:sym typeface="Garet Bold"/>
              </a:rPr>
              <a:t>02</a:t>
            </a:r>
          </a:p>
        </p:txBody>
      </p:sp>
      <p:sp>
        <p:nvSpPr>
          <p:cNvPr name="TextBox 16" id="16"/>
          <p:cNvSpPr txBox="true"/>
          <p:nvPr/>
        </p:nvSpPr>
        <p:spPr>
          <a:xfrm rot="0">
            <a:off x="10914311" y="1662852"/>
            <a:ext cx="4687954" cy="596900"/>
          </a:xfrm>
          <a:prstGeom prst="rect">
            <a:avLst/>
          </a:prstGeom>
        </p:spPr>
        <p:txBody>
          <a:bodyPr anchor="t" rtlCol="false" tIns="0" lIns="0" bIns="0" rIns="0">
            <a:spAutoFit/>
          </a:bodyPr>
          <a:lstStyle/>
          <a:p>
            <a:pPr algn="l">
              <a:lnSpc>
                <a:spcPts val="4900"/>
              </a:lnSpc>
            </a:pPr>
            <a:r>
              <a:rPr lang="en-US" sz="3500">
                <a:solidFill>
                  <a:srgbClr val="000000"/>
                </a:solidFill>
                <a:latin typeface="Garet"/>
                <a:ea typeface="Garet"/>
                <a:cs typeface="Garet"/>
                <a:sym typeface="Garet"/>
              </a:rPr>
              <a:t>Lulu Najla Salsabila</a:t>
            </a:r>
          </a:p>
        </p:txBody>
      </p:sp>
      <p:grpSp>
        <p:nvGrpSpPr>
          <p:cNvPr name="Group 17" id="17"/>
          <p:cNvGrpSpPr/>
          <p:nvPr/>
        </p:nvGrpSpPr>
        <p:grpSpPr>
          <a:xfrm rot="0">
            <a:off x="9556243" y="5895480"/>
            <a:ext cx="7287250" cy="3044487"/>
            <a:chOff x="0" y="0"/>
            <a:chExt cx="1919276" cy="801840"/>
          </a:xfrm>
        </p:grpSpPr>
        <p:sp>
          <p:nvSpPr>
            <p:cNvPr name="Freeform 18" id="18"/>
            <p:cNvSpPr/>
            <p:nvPr/>
          </p:nvSpPr>
          <p:spPr>
            <a:xfrm flipH="false" flipV="false" rot="0">
              <a:off x="0" y="0"/>
              <a:ext cx="1919276" cy="801840"/>
            </a:xfrm>
            <a:custGeom>
              <a:avLst/>
              <a:gdLst/>
              <a:ahLst/>
              <a:cxnLst/>
              <a:rect r="r" b="b" t="t" l="l"/>
              <a:pathLst>
                <a:path h="801840" w="1919276">
                  <a:moveTo>
                    <a:pt x="54182" y="0"/>
                  </a:moveTo>
                  <a:lnTo>
                    <a:pt x="1865094" y="0"/>
                  </a:lnTo>
                  <a:cubicBezTo>
                    <a:pt x="1879464" y="0"/>
                    <a:pt x="1893245" y="5708"/>
                    <a:pt x="1903406" y="15870"/>
                  </a:cubicBezTo>
                  <a:cubicBezTo>
                    <a:pt x="1913568" y="26031"/>
                    <a:pt x="1919276" y="39812"/>
                    <a:pt x="1919276" y="54182"/>
                  </a:cubicBezTo>
                  <a:lnTo>
                    <a:pt x="1919276" y="747658"/>
                  </a:lnTo>
                  <a:cubicBezTo>
                    <a:pt x="1919276" y="762028"/>
                    <a:pt x="1913568" y="775809"/>
                    <a:pt x="1903406" y="785971"/>
                  </a:cubicBezTo>
                  <a:cubicBezTo>
                    <a:pt x="1893245" y="796132"/>
                    <a:pt x="1879464" y="801840"/>
                    <a:pt x="1865094" y="801840"/>
                  </a:cubicBezTo>
                  <a:lnTo>
                    <a:pt x="54182" y="801840"/>
                  </a:lnTo>
                  <a:cubicBezTo>
                    <a:pt x="39812" y="801840"/>
                    <a:pt x="26031" y="796132"/>
                    <a:pt x="15870" y="785971"/>
                  </a:cubicBezTo>
                  <a:cubicBezTo>
                    <a:pt x="5708" y="775809"/>
                    <a:pt x="0" y="762028"/>
                    <a:pt x="0" y="747658"/>
                  </a:cubicBezTo>
                  <a:lnTo>
                    <a:pt x="0" y="54182"/>
                  </a:lnTo>
                  <a:cubicBezTo>
                    <a:pt x="0" y="39812"/>
                    <a:pt x="5708" y="26031"/>
                    <a:pt x="15870" y="15870"/>
                  </a:cubicBezTo>
                  <a:cubicBezTo>
                    <a:pt x="26031" y="5708"/>
                    <a:pt x="39812" y="0"/>
                    <a:pt x="54182" y="0"/>
                  </a:cubicBezTo>
                  <a:close/>
                </a:path>
              </a:pathLst>
            </a:custGeom>
            <a:solidFill>
              <a:srgbClr val="65A4CD"/>
            </a:solidFill>
          </p:spPr>
        </p:sp>
        <p:sp>
          <p:nvSpPr>
            <p:cNvPr name="TextBox 19" id="19"/>
            <p:cNvSpPr txBox="true"/>
            <p:nvPr/>
          </p:nvSpPr>
          <p:spPr>
            <a:xfrm>
              <a:off x="0" y="-38100"/>
              <a:ext cx="1919276" cy="83994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9798951" y="5884160"/>
            <a:ext cx="884008" cy="670179"/>
          </a:xfrm>
          <a:prstGeom prst="rect">
            <a:avLst/>
          </a:prstGeom>
        </p:spPr>
        <p:txBody>
          <a:bodyPr anchor="t" rtlCol="false" tIns="0" lIns="0" bIns="0" rIns="0">
            <a:spAutoFit/>
          </a:bodyPr>
          <a:lstStyle/>
          <a:p>
            <a:pPr algn="ctr">
              <a:lnSpc>
                <a:spcPts val="5586"/>
              </a:lnSpc>
            </a:pPr>
            <a:r>
              <a:rPr lang="en-US" b="true" sz="3990">
                <a:solidFill>
                  <a:srgbClr val="000000"/>
                </a:solidFill>
                <a:latin typeface="Garet Bold"/>
                <a:ea typeface="Garet Bold"/>
                <a:cs typeface="Garet Bold"/>
                <a:sym typeface="Garet Bold"/>
              </a:rPr>
              <a:t>04</a:t>
            </a:r>
          </a:p>
        </p:txBody>
      </p:sp>
      <p:sp>
        <p:nvSpPr>
          <p:cNvPr name="TextBox 21" id="21"/>
          <p:cNvSpPr txBox="true"/>
          <p:nvPr/>
        </p:nvSpPr>
        <p:spPr>
          <a:xfrm rot="0">
            <a:off x="9998247" y="6601964"/>
            <a:ext cx="6520081" cy="1835150"/>
          </a:xfrm>
          <a:prstGeom prst="rect">
            <a:avLst/>
          </a:prstGeom>
        </p:spPr>
        <p:txBody>
          <a:bodyPr anchor="t" rtlCol="false" tIns="0" lIns="0" bIns="0" rIns="0">
            <a:spAutoFit/>
          </a:bodyPr>
          <a:lstStyle/>
          <a:p>
            <a:pPr algn="l">
              <a:lnSpc>
                <a:spcPts val="4900"/>
              </a:lnSpc>
            </a:pPr>
            <a:r>
              <a:rPr lang="en-US" sz="3500">
                <a:solidFill>
                  <a:srgbClr val="000000"/>
                </a:solidFill>
                <a:latin typeface="Garet"/>
                <a:ea typeface="Garet"/>
                <a:cs typeface="Garet"/>
                <a:sym typeface="Garet"/>
              </a:rPr>
              <a:t>Penyusunan instrumen survei dan variabel penelitian.</a:t>
            </a:r>
          </a:p>
        </p:txBody>
      </p:sp>
      <p:grpSp>
        <p:nvGrpSpPr>
          <p:cNvPr name="Group 22" id="22"/>
          <p:cNvGrpSpPr/>
          <p:nvPr/>
        </p:nvGrpSpPr>
        <p:grpSpPr>
          <a:xfrm rot="0">
            <a:off x="1028700" y="5895480"/>
            <a:ext cx="7133667" cy="3044487"/>
            <a:chOff x="0" y="0"/>
            <a:chExt cx="1878826" cy="801840"/>
          </a:xfrm>
        </p:grpSpPr>
        <p:sp>
          <p:nvSpPr>
            <p:cNvPr name="Freeform 23" id="23"/>
            <p:cNvSpPr/>
            <p:nvPr/>
          </p:nvSpPr>
          <p:spPr>
            <a:xfrm flipH="false" flipV="false" rot="0">
              <a:off x="0" y="0"/>
              <a:ext cx="1878826" cy="801840"/>
            </a:xfrm>
            <a:custGeom>
              <a:avLst/>
              <a:gdLst/>
              <a:ahLst/>
              <a:cxnLst/>
              <a:rect r="r" b="b" t="t" l="l"/>
              <a:pathLst>
                <a:path h="801840" w="1878826">
                  <a:moveTo>
                    <a:pt x="55349" y="0"/>
                  </a:moveTo>
                  <a:lnTo>
                    <a:pt x="1823477" y="0"/>
                  </a:lnTo>
                  <a:cubicBezTo>
                    <a:pt x="1838157" y="0"/>
                    <a:pt x="1852235" y="5831"/>
                    <a:pt x="1862615" y="16211"/>
                  </a:cubicBezTo>
                  <a:cubicBezTo>
                    <a:pt x="1872994" y="26591"/>
                    <a:pt x="1878826" y="40669"/>
                    <a:pt x="1878826" y="55349"/>
                  </a:cubicBezTo>
                  <a:lnTo>
                    <a:pt x="1878826" y="746492"/>
                  </a:lnTo>
                  <a:cubicBezTo>
                    <a:pt x="1878826" y="777060"/>
                    <a:pt x="1854045" y="801840"/>
                    <a:pt x="1823477" y="801840"/>
                  </a:cubicBezTo>
                  <a:lnTo>
                    <a:pt x="55349" y="801840"/>
                  </a:lnTo>
                  <a:cubicBezTo>
                    <a:pt x="40669" y="801840"/>
                    <a:pt x="26591" y="796009"/>
                    <a:pt x="16211" y="785629"/>
                  </a:cubicBezTo>
                  <a:cubicBezTo>
                    <a:pt x="5831" y="775249"/>
                    <a:pt x="0" y="761171"/>
                    <a:pt x="0" y="746492"/>
                  </a:cubicBezTo>
                  <a:lnTo>
                    <a:pt x="0" y="55349"/>
                  </a:lnTo>
                  <a:cubicBezTo>
                    <a:pt x="0" y="40669"/>
                    <a:pt x="5831" y="26591"/>
                    <a:pt x="16211" y="16211"/>
                  </a:cubicBezTo>
                  <a:cubicBezTo>
                    <a:pt x="26591" y="5831"/>
                    <a:pt x="40669" y="0"/>
                    <a:pt x="55349" y="0"/>
                  </a:cubicBezTo>
                  <a:close/>
                </a:path>
              </a:pathLst>
            </a:custGeom>
            <a:solidFill>
              <a:srgbClr val="C7DEEB"/>
            </a:solidFill>
          </p:spPr>
        </p:sp>
        <p:sp>
          <p:nvSpPr>
            <p:cNvPr name="TextBox 24" id="24"/>
            <p:cNvSpPr txBox="true"/>
            <p:nvPr/>
          </p:nvSpPr>
          <p:spPr>
            <a:xfrm>
              <a:off x="0" y="-38100"/>
              <a:ext cx="1878826" cy="839940"/>
            </a:xfrm>
            <a:prstGeom prst="rect">
              <a:avLst/>
            </a:prstGeom>
          </p:spPr>
          <p:txBody>
            <a:bodyPr anchor="ctr" rtlCol="false" tIns="50800" lIns="50800" bIns="50800" rIns="50800"/>
            <a:lstStyle/>
            <a:p>
              <a:pPr algn="ctr">
                <a:lnSpc>
                  <a:spcPts val="2659"/>
                </a:lnSpc>
                <a:spcBef>
                  <a:spcPct val="0"/>
                </a:spcBef>
              </a:pPr>
            </a:p>
          </p:txBody>
        </p:sp>
      </p:grpSp>
      <p:sp>
        <p:nvSpPr>
          <p:cNvPr name="TextBox 25" id="25"/>
          <p:cNvSpPr txBox="true"/>
          <p:nvPr/>
        </p:nvSpPr>
        <p:spPr>
          <a:xfrm rot="0">
            <a:off x="1260214" y="5884160"/>
            <a:ext cx="737956" cy="639170"/>
          </a:xfrm>
          <a:prstGeom prst="rect">
            <a:avLst/>
          </a:prstGeom>
        </p:spPr>
        <p:txBody>
          <a:bodyPr anchor="t" rtlCol="false" tIns="0" lIns="0" bIns="0" rIns="0">
            <a:spAutoFit/>
          </a:bodyPr>
          <a:lstStyle/>
          <a:p>
            <a:pPr algn="ctr">
              <a:lnSpc>
                <a:spcPts val="5259"/>
              </a:lnSpc>
            </a:pPr>
            <a:r>
              <a:rPr lang="en-US" b="true" sz="3756">
                <a:solidFill>
                  <a:srgbClr val="000000"/>
                </a:solidFill>
                <a:latin typeface="Garet Bold"/>
                <a:ea typeface="Garet Bold"/>
                <a:cs typeface="Garet Bold"/>
                <a:sym typeface="Garet Bold"/>
              </a:rPr>
              <a:t>03</a:t>
            </a:r>
          </a:p>
        </p:txBody>
      </p:sp>
      <p:sp>
        <p:nvSpPr>
          <p:cNvPr name="TextBox 26" id="26"/>
          <p:cNvSpPr txBox="true"/>
          <p:nvPr/>
        </p:nvSpPr>
        <p:spPr>
          <a:xfrm rot="0">
            <a:off x="2234617" y="5884160"/>
            <a:ext cx="4687954" cy="596900"/>
          </a:xfrm>
          <a:prstGeom prst="rect">
            <a:avLst/>
          </a:prstGeom>
        </p:spPr>
        <p:txBody>
          <a:bodyPr anchor="t" rtlCol="false" tIns="0" lIns="0" bIns="0" rIns="0">
            <a:spAutoFit/>
          </a:bodyPr>
          <a:lstStyle/>
          <a:p>
            <a:pPr algn="l">
              <a:lnSpc>
                <a:spcPts val="4900"/>
              </a:lnSpc>
            </a:pPr>
            <a:r>
              <a:rPr lang="en-US" sz="3500">
                <a:solidFill>
                  <a:srgbClr val="000000"/>
                </a:solidFill>
                <a:latin typeface="Garet"/>
                <a:ea typeface="Garet"/>
                <a:cs typeface="Garet"/>
                <a:sym typeface="Garet"/>
              </a:rPr>
              <a:t>Veronica Xavier</a:t>
            </a:r>
          </a:p>
        </p:txBody>
      </p:sp>
      <p:sp>
        <p:nvSpPr>
          <p:cNvPr name="TextBox 27" id="27"/>
          <p:cNvSpPr txBox="true"/>
          <p:nvPr/>
        </p:nvSpPr>
        <p:spPr>
          <a:xfrm rot="0">
            <a:off x="11155826" y="5884160"/>
            <a:ext cx="4687954" cy="596900"/>
          </a:xfrm>
          <a:prstGeom prst="rect">
            <a:avLst/>
          </a:prstGeom>
        </p:spPr>
        <p:txBody>
          <a:bodyPr anchor="t" rtlCol="false" tIns="0" lIns="0" bIns="0" rIns="0">
            <a:spAutoFit/>
          </a:bodyPr>
          <a:lstStyle/>
          <a:p>
            <a:pPr algn="l">
              <a:lnSpc>
                <a:spcPts val="4900"/>
              </a:lnSpc>
            </a:pPr>
            <a:r>
              <a:rPr lang="en-US" sz="3500">
                <a:solidFill>
                  <a:srgbClr val="000000"/>
                </a:solidFill>
                <a:latin typeface="Garet"/>
                <a:ea typeface="Garet"/>
                <a:cs typeface="Garet"/>
                <a:sym typeface="Garet"/>
              </a:rPr>
              <a:t>Adinda Adelia F</a:t>
            </a:r>
          </a:p>
        </p:txBody>
      </p:sp>
      <p:sp>
        <p:nvSpPr>
          <p:cNvPr name="TextBox 28" id="28"/>
          <p:cNvSpPr txBox="true"/>
          <p:nvPr/>
        </p:nvSpPr>
        <p:spPr>
          <a:xfrm rot="0">
            <a:off x="1260214" y="6601964"/>
            <a:ext cx="6084535" cy="1835150"/>
          </a:xfrm>
          <a:prstGeom prst="rect">
            <a:avLst/>
          </a:prstGeom>
        </p:spPr>
        <p:txBody>
          <a:bodyPr anchor="t" rtlCol="false" tIns="0" lIns="0" bIns="0" rIns="0">
            <a:spAutoFit/>
          </a:bodyPr>
          <a:lstStyle/>
          <a:p>
            <a:pPr algn="l">
              <a:lnSpc>
                <a:spcPts val="4900"/>
              </a:lnSpc>
            </a:pPr>
            <a:r>
              <a:rPr lang="en-US" sz="3500">
                <a:solidFill>
                  <a:srgbClr val="000000"/>
                </a:solidFill>
                <a:latin typeface="Garet"/>
                <a:ea typeface="Garet"/>
                <a:cs typeface="Garet"/>
                <a:sym typeface="Garet"/>
              </a:rPr>
              <a:t>Pengumpulan data dan teknik sampling responden.</a:t>
            </a:r>
          </a:p>
        </p:txBody>
      </p:sp>
      <p:sp>
        <p:nvSpPr>
          <p:cNvPr name="TextBox 29" id="29"/>
          <p:cNvSpPr txBox="true"/>
          <p:nvPr/>
        </p:nvSpPr>
        <p:spPr>
          <a:xfrm rot="0">
            <a:off x="1260214" y="2536772"/>
            <a:ext cx="6902153" cy="1216025"/>
          </a:xfrm>
          <a:prstGeom prst="rect">
            <a:avLst/>
          </a:prstGeom>
        </p:spPr>
        <p:txBody>
          <a:bodyPr anchor="t" rtlCol="false" tIns="0" lIns="0" bIns="0" rIns="0">
            <a:spAutoFit/>
          </a:bodyPr>
          <a:lstStyle/>
          <a:p>
            <a:pPr algn="l">
              <a:lnSpc>
                <a:spcPts val="4900"/>
              </a:lnSpc>
            </a:pPr>
            <a:r>
              <a:rPr lang="en-US" sz="3500">
                <a:solidFill>
                  <a:srgbClr val="000000"/>
                </a:solidFill>
                <a:latin typeface="Garet"/>
                <a:ea typeface="Garet"/>
                <a:cs typeface="Garet"/>
                <a:sym typeface="Garet"/>
              </a:rPr>
              <a:t>Pengolahan data, analisis statistik, dan visualisasi</a:t>
            </a:r>
          </a:p>
        </p:txBody>
      </p:sp>
      <p:sp>
        <p:nvSpPr>
          <p:cNvPr name="TextBox 30" id="30"/>
          <p:cNvSpPr txBox="true"/>
          <p:nvPr/>
        </p:nvSpPr>
        <p:spPr>
          <a:xfrm rot="0">
            <a:off x="9798951" y="2536772"/>
            <a:ext cx="6719377" cy="1835150"/>
          </a:xfrm>
          <a:prstGeom prst="rect">
            <a:avLst/>
          </a:prstGeom>
        </p:spPr>
        <p:txBody>
          <a:bodyPr anchor="t" rtlCol="false" tIns="0" lIns="0" bIns="0" rIns="0">
            <a:spAutoFit/>
          </a:bodyPr>
          <a:lstStyle/>
          <a:p>
            <a:pPr algn="l">
              <a:lnSpc>
                <a:spcPts val="4900"/>
              </a:lnSpc>
            </a:pPr>
            <a:r>
              <a:rPr lang="en-US" sz="3500">
                <a:solidFill>
                  <a:srgbClr val="000000"/>
                </a:solidFill>
                <a:latin typeface="Garet"/>
                <a:ea typeface="Garet"/>
                <a:cs typeface="Garet"/>
                <a:sym typeface="Garet"/>
              </a:rPr>
              <a:t>Interpretasi hasil dan dokumentasi presentasi penelitian.</a:t>
            </a:r>
          </a:p>
        </p:txBody>
      </p:sp>
    </p:spTree>
  </p:cSld>
  <p:clrMapOvr>
    <a:masterClrMapping/>
  </p:clrMapOvr>
  <p:transition spd="fast">
    <p:cover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BFBFB">
                <a:alpha val="89804"/>
              </a:srgbClr>
            </a:solidFill>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01846" y="419788"/>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2446545" y="600075"/>
            <a:ext cx="5474256" cy="771525"/>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Introduction</a:t>
            </a:r>
          </a:p>
        </p:txBody>
      </p:sp>
      <p:sp>
        <p:nvSpPr>
          <p:cNvPr name="TextBox 10" id="10"/>
          <p:cNvSpPr txBox="true"/>
          <p:nvPr/>
        </p:nvSpPr>
        <p:spPr>
          <a:xfrm rot="0">
            <a:off x="2363093" y="3305175"/>
            <a:ext cx="14040611" cy="3854450"/>
          </a:xfrm>
          <a:prstGeom prst="rect">
            <a:avLst/>
          </a:prstGeom>
        </p:spPr>
        <p:txBody>
          <a:bodyPr anchor="t" rtlCol="false" tIns="0" lIns="0" bIns="0" rIns="0">
            <a:spAutoFit/>
          </a:bodyPr>
          <a:lstStyle/>
          <a:p>
            <a:pPr algn="just">
              <a:lnSpc>
                <a:spcPts val="4375"/>
              </a:lnSpc>
            </a:pPr>
            <a:r>
              <a:rPr lang="en-US" sz="3500" spc="-196">
                <a:solidFill>
                  <a:srgbClr val="000000"/>
                </a:solidFill>
                <a:latin typeface="Garet"/>
                <a:ea typeface="Garet"/>
                <a:cs typeface="Garet"/>
                <a:sym typeface="Garet"/>
              </a:rPr>
              <a:t>Gaya</a:t>
            </a:r>
            <a:r>
              <a:rPr lang="en-US" sz="3500" spc="-196">
                <a:solidFill>
                  <a:srgbClr val="000000"/>
                </a:solidFill>
                <a:latin typeface="Garet"/>
                <a:ea typeface="Garet"/>
                <a:cs typeface="Garet"/>
                <a:sym typeface="Garet"/>
              </a:rPr>
              <a:t> hidup mahasiswa yang mencakup pola tidur, intensitas penggunaan gadget, dan aktivitas fisik merupakan faktor krusial yang secara langsung memengaruhi konsentrasi serta produktivitas akademik. Kebiasaan negatif seperti sering begadang, tingginya distraksi media sosial, dan kecenderungan menunda tugas berdampak pada penurunan pemahaman materi dan kualitas belajar secara keseluruhan.</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9769536" y="0"/>
            <a:ext cx="9235588" cy="1168375"/>
            <a:chOff x="0" y="0"/>
            <a:chExt cx="2432418" cy="307720"/>
          </a:xfrm>
        </p:grpSpPr>
        <p:sp>
          <p:nvSpPr>
            <p:cNvPr name="Freeform 4" id="4"/>
            <p:cNvSpPr/>
            <p:nvPr/>
          </p:nvSpPr>
          <p:spPr>
            <a:xfrm flipH="false" flipV="false" rot="0">
              <a:off x="0" y="0"/>
              <a:ext cx="2432418" cy="307720"/>
            </a:xfrm>
            <a:custGeom>
              <a:avLst/>
              <a:gdLst/>
              <a:ahLst/>
              <a:cxnLst/>
              <a:rect r="r" b="b" t="t" l="l"/>
              <a:pathLst>
                <a:path h="307720" w="2432418">
                  <a:moveTo>
                    <a:pt x="42752" y="0"/>
                  </a:moveTo>
                  <a:lnTo>
                    <a:pt x="2389666" y="0"/>
                  </a:lnTo>
                  <a:cubicBezTo>
                    <a:pt x="2401005" y="0"/>
                    <a:pt x="2411879" y="4504"/>
                    <a:pt x="2419896" y="12522"/>
                  </a:cubicBezTo>
                  <a:cubicBezTo>
                    <a:pt x="2427914" y="20539"/>
                    <a:pt x="2432418" y="31413"/>
                    <a:pt x="2432418" y="42752"/>
                  </a:cubicBezTo>
                  <a:lnTo>
                    <a:pt x="2432418" y="264968"/>
                  </a:lnTo>
                  <a:cubicBezTo>
                    <a:pt x="2432418" y="276307"/>
                    <a:pt x="2427914" y="287181"/>
                    <a:pt x="2419896" y="295198"/>
                  </a:cubicBezTo>
                  <a:cubicBezTo>
                    <a:pt x="2411879" y="303216"/>
                    <a:pt x="2401005" y="307720"/>
                    <a:pt x="2389666" y="307720"/>
                  </a:cubicBezTo>
                  <a:lnTo>
                    <a:pt x="42752" y="307720"/>
                  </a:lnTo>
                  <a:cubicBezTo>
                    <a:pt x="31413" y="307720"/>
                    <a:pt x="20539" y="303216"/>
                    <a:pt x="12522" y="295198"/>
                  </a:cubicBezTo>
                  <a:cubicBezTo>
                    <a:pt x="4504" y="287181"/>
                    <a:pt x="0" y="276307"/>
                    <a:pt x="0" y="264968"/>
                  </a:cubicBezTo>
                  <a:lnTo>
                    <a:pt x="0" y="42752"/>
                  </a:lnTo>
                  <a:cubicBezTo>
                    <a:pt x="0" y="31413"/>
                    <a:pt x="4504" y="20539"/>
                    <a:pt x="12522" y="12522"/>
                  </a:cubicBezTo>
                  <a:cubicBezTo>
                    <a:pt x="20539" y="4504"/>
                    <a:pt x="31413" y="0"/>
                    <a:pt x="42752" y="0"/>
                  </a:cubicBezTo>
                  <a:close/>
                </a:path>
              </a:pathLst>
            </a:custGeom>
            <a:solidFill>
              <a:srgbClr val="0D0F68"/>
            </a:solidFill>
          </p:spPr>
        </p:sp>
        <p:sp>
          <p:nvSpPr>
            <p:cNvPr name="TextBox 5" id="5"/>
            <p:cNvSpPr txBox="true"/>
            <p:nvPr/>
          </p:nvSpPr>
          <p:spPr>
            <a:xfrm>
              <a:off x="0" y="-38100"/>
              <a:ext cx="2432418" cy="34582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076642" y="155562"/>
            <a:ext cx="8211358" cy="771525"/>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Tujuan Penelitian </a:t>
            </a:r>
          </a:p>
        </p:txBody>
      </p:sp>
      <p:sp>
        <p:nvSpPr>
          <p:cNvPr name="TextBox 7" id="7"/>
          <p:cNvSpPr txBox="true"/>
          <p:nvPr/>
        </p:nvSpPr>
        <p:spPr>
          <a:xfrm rot="0">
            <a:off x="476189" y="3123565"/>
            <a:ext cx="8022196" cy="3989578"/>
          </a:xfrm>
          <a:prstGeom prst="rect">
            <a:avLst/>
          </a:prstGeom>
        </p:spPr>
        <p:txBody>
          <a:bodyPr anchor="t" rtlCol="false" tIns="0" lIns="0" bIns="0" rIns="0">
            <a:spAutoFit/>
          </a:bodyPr>
          <a:lstStyle/>
          <a:p>
            <a:pPr algn="just" marL="734058" indent="-367029" lvl="1">
              <a:lnSpc>
                <a:spcPts val="5065"/>
              </a:lnSpc>
              <a:buFont typeface="Arial"/>
              <a:buChar char="•"/>
            </a:pPr>
            <a:r>
              <a:rPr lang="en-US" sz="3399" spc="-292">
                <a:solidFill>
                  <a:srgbClr val="FBFBFB"/>
                </a:solidFill>
                <a:latin typeface="Garet"/>
                <a:ea typeface="Garet"/>
                <a:cs typeface="Garet"/>
                <a:sym typeface="Garet"/>
              </a:rPr>
              <a:t>Mengetahui gaya hidup mahasiswa ITSB.</a:t>
            </a:r>
          </a:p>
          <a:p>
            <a:pPr algn="just" marL="734058" indent="-367029" lvl="1">
              <a:lnSpc>
                <a:spcPts val="5813"/>
              </a:lnSpc>
              <a:buFont typeface="Arial"/>
              <a:buChar char="•"/>
            </a:pPr>
            <a:r>
              <a:rPr lang="en-US" sz="3399" spc="-292">
                <a:solidFill>
                  <a:srgbClr val="FBFBFB"/>
                </a:solidFill>
                <a:latin typeface="Garet"/>
                <a:ea typeface="Garet"/>
                <a:cs typeface="Garet"/>
                <a:sym typeface="Garet"/>
              </a:rPr>
              <a:t>Mengetahui kualitas belajar mahasiswa ITSB.</a:t>
            </a:r>
          </a:p>
          <a:p>
            <a:pPr algn="just" marL="734058" indent="-367029" lvl="1">
              <a:lnSpc>
                <a:spcPts val="5065"/>
              </a:lnSpc>
              <a:buFont typeface="Arial"/>
              <a:buChar char="•"/>
            </a:pPr>
            <a:r>
              <a:rPr lang="en-US" sz="3399" spc="-292">
                <a:solidFill>
                  <a:srgbClr val="FBFBFB"/>
                </a:solidFill>
                <a:latin typeface="Garet"/>
                <a:ea typeface="Garet"/>
                <a:cs typeface="Garet"/>
                <a:sym typeface="Garet"/>
              </a:rPr>
              <a:t>Mengetahui pengaruh gaya hidup terhadap kualitas belajar mahasiswa.</a:t>
            </a:r>
          </a:p>
        </p:txBody>
      </p:sp>
      <p:grpSp>
        <p:nvGrpSpPr>
          <p:cNvPr name="Group 8" id="8"/>
          <p:cNvGrpSpPr/>
          <p:nvPr/>
        </p:nvGrpSpPr>
        <p:grpSpPr>
          <a:xfrm rot="0">
            <a:off x="476189" y="2634627"/>
            <a:ext cx="9235588" cy="1168375"/>
            <a:chOff x="0" y="0"/>
            <a:chExt cx="2432418" cy="307720"/>
          </a:xfrm>
        </p:grpSpPr>
        <p:sp>
          <p:nvSpPr>
            <p:cNvPr name="Freeform 9" id="9"/>
            <p:cNvSpPr/>
            <p:nvPr/>
          </p:nvSpPr>
          <p:spPr>
            <a:xfrm flipH="false" flipV="false" rot="0">
              <a:off x="0" y="0"/>
              <a:ext cx="2432418" cy="307720"/>
            </a:xfrm>
            <a:custGeom>
              <a:avLst/>
              <a:gdLst/>
              <a:ahLst/>
              <a:cxnLst/>
              <a:rect r="r" b="b" t="t" l="l"/>
              <a:pathLst>
                <a:path h="307720" w="2432418">
                  <a:moveTo>
                    <a:pt x="42752" y="0"/>
                  </a:moveTo>
                  <a:lnTo>
                    <a:pt x="2389666" y="0"/>
                  </a:lnTo>
                  <a:cubicBezTo>
                    <a:pt x="2401005" y="0"/>
                    <a:pt x="2411879" y="4504"/>
                    <a:pt x="2419896" y="12522"/>
                  </a:cubicBezTo>
                  <a:cubicBezTo>
                    <a:pt x="2427914" y="20539"/>
                    <a:pt x="2432418" y="31413"/>
                    <a:pt x="2432418" y="42752"/>
                  </a:cubicBezTo>
                  <a:lnTo>
                    <a:pt x="2432418" y="264968"/>
                  </a:lnTo>
                  <a:cubicBezTo>
                    <a:pt x="2432418" y="276307"/>
                    <a:pt x="2427914" y="287181"/>
                    <a:pt x="2419896" y="295198"/>
                  </a:cubicBezTo>
                  <a:cubicBezTo>
                    <a:pt x="2411879" y="303216"/>
                    <a:pt x="2401005" y="307720"/>
                    <a:pt x="2389666" y="307720"/>
                  </a:cubicBezTo>
                  <a:lnTo>
                    <a:pt x="42752" y="307720"/>
                  </a:lnTo>
                  <a:cubicBezTo>
                    <a:pt x="31413" y="307720"/>
                    <a:pt x="20539" y="303216"/>
                    <a:pt x="12522" y="295198"/>
                  </a:cubicBezTo>
                  <a:cubicBezTo>
                    <a:pt x="4504" y="287181"/>
                    <a:pt x="0" y="276307"/>
                    <a:pt x="0" y="264968"/>
                  </a:cubicBezTo>
                  <a:lnTo>
                    <a:pt x="0" y="42752"/>
                  </a:lnTo>
                  <a:cubicBezTo>
                    <a:pt x="0" y="31413"/>
                    <a:pt x="4504" y="20539"/>
                    <a:pt x="12522" y="12522"/>
                  </a:cubicBezTo>
                  <a:cubicBezTo>
                    <a:pt x="20539" y="4504"/>
                    <a:pt x="31413" y="0"/>
                    <a:pt x="42752" y="0"/>
                  </a:cubicBezTo>
                  <a:close/>
                </a:path>
              </a:pathLst>
            </a:custGeom>
            <a:solidFill>
              <a:srgbClr val="0D0F68"/>
            </a:solidFill>
          </p:spPr>
        </p:sp>
        <p:sp>
          <p:nvSpPr>
            <p:cNvPr name="TextBox 10" id="10"/>
            <p:cNvSpPr txBox="true"/>
            <p:nvPr/>
          </p:nvSpPr>
          <p:spPr>
            <a:xfrm>
              <a:off x="0" y="-38100"/>
              <a:ext cx="2432418" cy="345820"/>
            </a:xfrm>
            <a:prstGeom prst="rect">
              <a:avLst/>
            </a:prstGeom>
          </p:spPr>
          <p:txBody>
            <a:bodyPr anchor="ctr" rtlCol="false" tIns="50800" lIns="50800" bIns="50800" rIns="50800"/>
            <a:lstStyle/>
            <a:p>
              <a:pPr algn="ctr">
                <a:lnSpc>
                  <a:spcPts val="2659"/>
                </a:lnSpc>
                <a:spcBef>
                  <a:spcPct val="0"/>
                </a:spcBef>
              </a:pPr>
              <a:r>
                <a:rPr lang="en-US" sz="1899">
                  <a:solidFill>
                    <a:srgbClr val="0D0F68"/>
                  </a:solidFill>
                  <a:latin typeface="Canva Sans"/>
                  <a:ea typeface="Canva Sans"/>
                  <a:cs typeface="Canva Sans"/>
                  <a:sym typeface="Canva Sans"/>
                </a:rPr>
                <a:t>Mengetahui gaya hidup mahasiswa ITSB.</a:t>
              </a:r>
            </a:p>
          </p:txBody>
        </p:sp>
      </p:grpSp>
      <p:grpSp>
        <p:nvGrpSpPr>
          <p:cNvPr name="Group 11" id="11"/>
          <p:cNvGrpSpPr/>
          <p:nvPr/>
        </p:nvGrpSpPr>
        <p:grpSpPr>
          <a:xfrm rot="0">
            <a:off x="4831581" y="4581792"/>
            <a:ext cx="9235588" cy="1168375"/>
            <a:chOff x="0" y="0"/>
            <a:chExt cx="2432418" cy="307720"/>
          </a:xfrm>
        </p:grpSpPr>
        <p:sp>
          <p:nvSpPr>
            <p:cNvPr name="Freeform 12" id="12"/>
            <p:cNvSpPr/>
            <p:nvPr/>
          </p:nvSpPr>
          <p:spPr>
            <a:xfrm flipH="false" flipV="false" rot="0">
              <a:off x="0" y="0"/>
              <a:ext cx="2432418" cy="307720"/>
            </a:xfrm>
            <a:custGeom>
              <a:avLst/>
              <a:gdLst/>
              <a:ahLst/>
              <a:cxnLst/>
              <a:rect r="r" b="b" t="t" l="l"/>
              <a:pathLst>
                <a:path h="307720" w="2432418">
                  <a:moveTo>
                    <a:pt x="42752" y="0"/>
                  </a:moveTo>
                  <a:lnTo>
                    <a:pt x="2389666" y="0"/>
                  </a:lnTo>
                  <a:cubicBezTo>
                    <a:pt x="2401005" y="0"/>
                    <a:pt x="2411879" y="4504"/>
                    <a:pt x="2419896" y="12522"/>
                  </a:cubicBezTo>
                  <a:cubicBezTo>
                    <a:pt x="2427914" y="20539"/>
                    <a:pt x="2432418" y="31413"/>
                    <a:pt x="2432418" y="42752"/>
                  </a:cubicBezTo>
                  <a:lnTo>
                    <a:pt x="2432418" y="264968"/>
                  </a:lnTo>
                  <a:cubicBezTo>
                    <a:pt x="2432418" y="276307"/>
                    <a:pt x="2427914" y="287181"/>
                    <a:pt x="2419896" y="295198"/>
                  </a:cubicBezTo>
                  <a:cubicBezTo>
                    <a:pt x="2411879" y="303216"/>
                    <a:pt x="2401005" y="307720"/>
                    <a:pt x="2389666" y="307720"/>
                  </a:cubicBezTo>
                  <a:lnTo>
                    <a:pt x="42752" y="307720"/>
                  </a:lnTo>
                  <a:cubicBezTo>
                    <a:pt x="31413" y="307720"/>
                    <a:pt x="20539" y="303216"/>
                    <a:pt x="12522" y="295198"/>
                  </a:cubicBezTo>
                  <a:cubicBezTo>
                    <a:pt x="4504" y="287181"/>
                    <a:pt x="0" y="276307"/>
                    <a:pt x="0" y="264968"/>
                  </a:cubicBezTo>
                  <a:lnTo>
                    <a:pt x="0" y="42752"/>
                  </a:lnTo>
                  <a:cubicBezTo>
                    <a:pt x="0" y="31413"/>
                    <a:pt x="4504" y="20539"/>
                    <a:pt x="12522" y="12522"/>
                  </a:cubicBezTo>
                  <a:cubicBezTo>
                    <a:pt x="20539" y="4504"/>
                    <a:pt x="31413" y="0"/>
                    <a:pt x="42752" y="0"/>
                  </a:cubicBezTo>
                  <a:close/>
                </a:path>
              </a:pathLst>
            </a:custGeom>
            <a:solidFill>
              <a:srgbClr val="0D0F68"/>
            </a:solidFill>
          </p:spPr>
        </p:sp>
        <p:sp>
          <p:nvSpPr>
            <p:cNvPr name="TextBox 13" id="13"/>
            <p:cNvSpPr txBox="true"/>
            <p:nvPr/>
          </p:nvSpPr>
          <p:spPr>
            <a:xfrm>
              <a:off x="0" y="-38100"/>
              <a:ext cx="2432418" cy="34582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7124725" y="6815658"/>
            <a:ext cx="9536541" cy="1524046"/>
            <a:chOff x="0" y="0"/>
            <a:chExt cx="2511681" cy="401395"/>
          </a:xfrm>
        </p:grpSpPr>
        <p:sp>
          <p:nvSpPr>
            <p:cNvPr name="Freeform 15" id="15"/>
            <p:cNvSpPr/>
            <p:nvPr/>
          </p:nvSpPr>
          <p:spPr>
            <a:xfrm flipH="false" flipV="false" rot="0">
              <a:off x="0" y="0"/>
              <a:ext cx="2511682" cy="401395"/>
            </a:xfrm>
            <a:custGeom>
              <a:avLst/>
              <a:gdLst/>
              <a:ahLst/>
              <a:cxnLst/>
              <a:rect r="r" b="b" t="t" l="l"/>
              <a:pathLst>
                <a:path h="401395" w="2511682">
                  <a:moveTo>
                    <a:pt x="41403" y="0"/>
                  </a:moveTo>
                  <a:lnTo>
                    <a:pt x="2470279" y="0"/>
                  </a:lnTo>
                  <a:cubicBezTo>
                    <a:pt x="2481260" y="0"/>
                    <a:pt x="2491791" y="4362"/>
                    <a:pt x="2499555" y="12127"/>
                  </a:cubicBezTo>
                  <a:cubicBezTo>
                    <a:pt x="2507320" y="19891"/>
                    <a:pt x="2511682" y="30422"/>
                    <a:pt x="2511682" y="41403"/>
                  </a:cubicBezTo>
                  <a:lnTo>
                    <a:pt x="2511682" y="359992"/>
                  </a:lnTo>
                  <a:cubicBezTo>
                    <a:pt x="2511682" y="370973"/>
                    <a:pt x="2507320" y="381504"/>
                    <a:pt x="2499555" y="389268"/>
                  </a:cubicBezTo>
                  <a:cubicBezTo>
                    <a:pt x="2491791" y="397033"/>
                    <a:pt x="2481260" y="401395"/>
                    <a:pt x="2470279" y="401395"/>
                  </a:cubicBezTo>
                  <a:lnTo>
                    <a:pt x="41403" y="401395"/>
                  </a:lnTo>
                  <a:cubicBezTo>
                    <a:pt x="30422" y="401395"/>
                    <a:pt x="19891" y="397033"/>
                    <a:pt x="12127" y="389268"/>
                  </a:cubicBezTo>
                  <a:cubicBezTo>
                    <a:pt x="4362" y="381504"/>
                    <a:pt x="0" y="370973"/>
                    <a:pt x="0" y="359992"/>
                  </a:cubicBezTo>
                  <a:lnTo>
                    <a:pt x="0" y="41403"/>
                  </a:lnTo>
                  <a:cubicBezTo>
                    <a:pt x="0" y="30422"/>
                    <a:pt x="4362" y="19891"/>
                    <a:pt x="12127" y="12127"/>
                  </a:cubicBezTo>
                  <a:cubicBezTo>
                    <a:pt x="19891" y="4362"/>
                    <a:pt x="30422" y="0"/>
                    <a:pt x="41403" y="0"/>
                  </a:cubicBezTo>
                  <a:close/>
                </a:path>
              </a:pathLst>
            </a:custGeom>
            <a:solidFill>
              <a:srgbClr val="0D0F68"/>
            </a:solidFill>
          </p:spPr>
        </p:sp>
        <p:sp>
          <p:nvSpPr>
            <p:cNvPr name="TextBox 16" id="16"/>
            <p:cNvSpPr txBox="true"/>
            <p:nvPr/>
          </p:nvSpPr>
          <p:spPr>
            <a:xfrm>
              <a:off x="0" y="-38100"/>
              <a:ext cx="2511681" cy="439495"/>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725902" y="2818814"/>
            <a:ext cx="8211358" cy="1245199"/>
          </a:xfrm>
          <a:prstGeom prst="rect">
            <a:avLst/>
          </a:prstGeom>
        </p:spPr>
        <p:txBody>
          <a:bodyPr anchor="t" rtlCol="false" tIns="0" lIns="0" bIns="0" rIns="0">
            <a:spAutoFit/>
          </a:bodyPr>
          <a:lstStyle/>
          <a:p>
            <a:pPr algn="just" marL="704098" indent="-352049" lvl="1">
              <a:lnSpc>
                <a:spcPts val="4859"/>
              </a:lnSpc>
              <a:buFont typeface="Arial"/>
              <a:buChar char="•"/>
            </a:pPr>
            <a:r>
              <a:rPr lang="en-US" sz="3261" spc="-280">
                <a:solidFill>
                  <a:srgbClr val="FBFBFB"/>
                </a:solidFill>
                <a:latin typeface="Garet"/>
                <a:ea typeface="Garet"/>
                <a:cs typeface="Garet"/>
                <a:sym typeface="Garet"/>
              </a:rPr>
              <a:t>Mengetahui gaya hidup mahasiswa ITSB.</a:t>
            </a:r>
          </a:p>
          <a:p>
            <a:pPr algn="just">
              <a:lnSpc>
                <a:spcPts val="5576"/>
              </a:lnSpc>
            </a:pPr>
          </a:p>
        </p:txBody>
      </p:sp>
      <p:sp>
        <p:nvSpPr>
          <p:cNvPr name="TextBox 18" id="18"/>
          <p:cNvSpPr txBox="true"/>
          <p:nvPr/>
        </p:nvSpPr>
        <p:spPr>
          <a:xfrm rot="0">
            <a:off x="5093983" y="4211625"/>
            <a:ext cx="8462197" cy="1822982"/>
          </a:xfrm>
          <a:prstGeom prst="rect">
            <a:avLst/>
          </a:prstGeom>
        </p:spPr>
        <p:txBody>
          <a:bodyPr anchor="t" rtlCol="false" tIns="0" lIns="0" bIns="0" rIns="0">
            <a:spAutoFit/>
          </a:bodyPr>
          <a:lstStyle/>
          <a:p>
            <a:pPr algn="just">
              <a:lnSpc>
                <a:spcPts val="4670"/>
              </a:lnSpc>
            </a:pPr>
          </a:p>
          <a:p>
            <a:pPr algn="just" marL="676684" indent="-338342" lvl="1">
              <a:lnSpc>
                <a:spcPts val="5359"/>
              </a:lnSpc>
              <a:buFont typeface="Arial"/>
              <a:buChar char="•"/>
            </a:pPr>
            <a:r>
              <a:rPr lang="en-US" sz="3134" spc="-269">
                <a:solidFill>
                  <a:srgbClr val="FBFBFB"/>
                </a:solidFill>
                <a:latin typeface="Garet"/>
                <a:ea typeface="Garet"/>
                <a:cs typeface="Garet"/>
                <a:sym typeface="Garet"/>
              </a:rPr>
              <a:t>Mengetahui kualitas belajar mahasiswa ITSB.</a:t>
            </a:r>
          </a:p>
          <a:p>
            <a:pPr algn="just">
              <a:lnSpc>
                <a:spcPts val="4670"/>
              </a:lnSpc>
            </a:pPr>
          </a:p>
        </p:txBody>
      </p:sp>
      <p:sp>
        <p:nvSpPr>
          <p:cNvPr name="TextBox 19" id="19"/>
          <p:cNvSpPr txBox="true"/>
          <p:nvPr/>
        </p:nvSpPr>
        <p:spPr>
          <a:xfrm rot="0">
            <a:off x="7316241" y="6393129"/>
            <a:ext cx="8013689" cy="1884553"/>
          </a:xfrm>
          <a:prstGeom prst="rect">
            <a:avLst/>
          </a:prstGeom>
        </p:spPr>
        <p:txBody>
          <a:bodyPr anchor="t" rtlCol="false" tIns="0" lIns="0" bIns="0" rIns="0">
            <a:spAutoFit/>
          </a:bodyPr>
          <a:lstStyle/>
          <a:p>
            <a:pPr algn="just">
              <a:lnSpc>
                <a:spcPts val="5065"/>
              </a:lnSpc>
            </a:pPr>
          </a:p>
          <a:p>
            <a:pPr algn="just" marL="734058" indent="-367029" lvl="1">
              <a:lnSpc>
                <a:spcPts val="5065"/>
              </a:lnSpc>
              <a:buFont typeface="Arial"/>
              <a:buChar char="•"/>
            </a:pPr>
            <a:r>
              <a:rPr lang="en-US" sz="3399" spc="-292">
                <a:solidFill>
                  <a:srgbClr val="FBFBFB"/>
                </a:solidFill>
                <a:latin typeface="Garet"/>
                <a:ea typeface="Garet"/>
                <a:cs typeface="Garet"/>
                <a:sym typeface="Garet"/>
              </a:rPr>
              <a:t>Mengetahui pengaruh gaya hidup terhadap kualitas belajar mahasiswa.</a:t>
            </a:r>
          </a:p>
        </p:txBody>
      </p:sp>
    </p:spTree>
  </p:cSld>
  <p:clrMapOvr>
    <a:masterClrMapping/>
  </p:clrMapOvr>
  <p:transition spd="fast">
    <p:wipe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BFBFB">
                <a:alpha val="89804"/>
              </a:srgbClr>
            </a:solidFill>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124893" y="1226131"/>
            <a:ext cx="10038214" cy="1047750"/>
          </a:xfrm>
          <a:prstGeom prst="rect">
            <a:avLst/>
          </a:prstGeom>
        </p:spPr>
        <p:txBody>
          <a:bodyPr anchor="t" rtlCol="false" tIns="0" lIns="0" bIns="0" rIns="0">
            <a:spAutoFit/>
          </a:bodyPr>
          <a:lstStyle/>
          <a:p>
            <a:pPr algn="ctr">
              <a:lnSpc>
                <a:spcPts val="8400"/>
              </a:lnSpc>
            </a:pPr>
            <a:r>
              <a:rPr lang="en-US" sz="6000">
                <a:solidFill>
                  <a:srgbClr val="0D0F68"/>
                </a:solidFill>
                <a:latin typeface="Yeseva One"/>
                <a:ea typeface="Yeseva One"/>
                <a:cs typeface="Yeseva One"/>
                <a:sym typeface="Yeseva One"/>
              </a:rPr>
              <a:t>Populasi &amp; Sampel</a:t>
            </a:r>
          </a:p>
        </p:txBody>
      </p:sp>
      <p:sp>
        <p:nvSpPr>
          <p:cNvPr name="TextBox 7" id="7"/>
          <p:cNvSpPr txBox="true"/>
          <p:nvPr/>
        </p:nvSpPr>
        <p:spPr>
          <a:xfrm rot="0">
            <a:off x="1219654" y="2433519"/>
            <a:ext cx="3940920" cy="679450"/>
          </a:xfrm>
          <a:prstGeom prst="rect">
            <a:avLst/>
          </a:prstGeom>
        </p:spPr>
        <p:txBody>
          <a:bodyPr anchor="t" rtlCol="false" tIns="0" lIns="0" bIns="0" rIns="0">
            <a:spAutoFit/>
          </a:bodyPr>
          <a:lstStyle/>
          <a:p>
            <a:pPr algn="ctr">
              <a:lnSpc>
                <a:spcPts val="5599"/>
              </a:lnSpc>
            </a:pPr>
            <a:r>
              <a:rPr lang="en-US" b="true" sz="3999">
                <a:solidFill>
                  <a:srgbClr val="0D0F68"/>
                </a:solidFill>
                <a:latin typeface="Canva Sans Bold"/>
                <a:ea typeface="Canva Sans Bold"/>
                <a:cs typeface="Canva Sans Bold"/>
                <a:sym typeface="Canva Sans Bold"/>
              </a:rPr>
              <a:t>a. populasi</a:t>
            </a:r>
          </a:p>
        </p:txBody>
      </p:sp>
      <p:sp>
        <p:nvSpPr>
          <p:cNvPr name="TextBox 8" id="8"/>
          <p:cNvSpPr txBox="true"/>
          <p:nvPr/>
        </p:nvSpPr>
        <p:spPr>
          <a:xfrm rot="0">
            <a:off x="1676210" y="3291657"/>
            <a:ext cx="14935580" cy="2114550"/>
          </a:xfrm>
          <a:prstGeom prst="rect">
            <a:avLst/>
          </a:prstGeom>
        </p:spPr>
        <p:txBody>
          <a:bodyPr anchor="t" rtlCol="false" tIns="0" lIns="0" bIns="0" rIns="0">
            <a:spAutoFit/>
          </a:bodyPr>
          <a:lstStyle/>
          <a:p>
            <a:pPr algn="l">
              <a:lnSpc>
                <a:spcPts val="4200"/>
              </a:lnSpc>
            </a:pPr>
            <a:r>
              <a:rPr lang="en-US" sz="3000">
                <a:solidFill>
                  <a:srgbClr val="000000"/>
                </a:solidFill>
                <a:latin typeface="Garet"/>
                <a:ea typeface="Garet"/>
                <a:cs typeface="Garet"/>
                <a:sym typeface="Garet"/>
              </a:rPr>
              <a:t>P</a:t>
            </a:r>
            <a:r>
              <a:rPr lang="en-US" sz="3000">
                <a:solidFill>
                  <a:srgbClr val="000000"/>
                </a:solidFill>
                <a:latin typeface="Garet"/>
                <a:ea typeface="Garet"/>
                <a:cs typeface="Garet"/>
                <a:sym typeface="Garet"/>
              </a:rPr>
              <a:t>opulasi dalam penelitian ini adalah seluruh mahasiswa aktif Institut Teknologi Sains Bandung (ITSB). Berdasarkan data yang diperoleh, jumlah mahasiswa aktif ITSB adalah sebanyak 2.039 mahasiswa.</a:t>
            </a:r>
          </a:p>
          <a:p>
            <a:pPr algn="l">
              <a:lnSpc>
                <a:spcPts val="4200"/>
              </a:lnSpc>
            </a:pPr>
          </a:p>
        </p:txBody>
      </p:sp>
      <p:sp>
        <p:nvSpPr>
          <p:cNvPr name="TextBox 9" id="9"/>
          <p:cNvSpPr txBox="true"/>
          <p:nvPr/>
        </p:nvSpPr>
        <p:spPr>
          <a:xfrm rot="0">
            <a:off x="1219654" y="5339532"/>
            <a:ext cx="3940920" cy="669925"/>
          </a:xfrm>
          <a:prstGeom prst="rect">
            <a:avLst/>
          </a:prstGeom>
        </p:spPr>
        <p:txBody>
          <a:bodyPr anchor="t" rtlCol="false" tIns="0" lIns="0" bIns="0" rIns="0">
            <a:spAutoFit/>
          </a:bodyPr>
          <a:lstStyle/>
          <a:p>
            <a:pPr algn="ctr">
              <a:lnSpc>
                <a:spcPts val="5599"/>
              </a:lnSpc>
            </a:pPr>
            <a:r>
              <a:rPr lang="en-US" b="true" sz="3999">
                <a:solidFill>
                  <a:srgbClr val="0D0F68"/>
                </a:solidFill>
                <a:latin typeface="Garet Bold"/>
                <a:ea typeface="Garet Bold"/>
                <a:cs typeface="Garet Bold"/>
                <a:sym typeface="Garet Bold"/>
              </a:rPr>
              <a:t>b. Sampel</a:t>
            </a:r>
          </a:p>
        </p:txBody>
      </p:sp>
      <p:sp>
        <p:nvSpPr>
          <p:cNvPr name="TextBox 10" id="10"/>
          <p:cNvSpPr txBox="true"/>
          <p:nvPr/>
        </p:nvSpPr>
        <p:spPr>
          <a:xfrm rot="0">
            <a:off x="1676210" y="6219007"/>
            <a:ext cx="14935580" cy="2647950"/>
          </a:xfrm>
          <a:prstGeom prst="rect">
            <a:avLst/>
          </a:prstGeom>
        </p:spPr>
        <p:txBody>
          <a:bodyPr anchor="t" rtlCol="false" tIns="0" lIns="0" bIns="0" rIns="0">
            <a:spAutoFit/>
          </a:bodyPr>
          <a:lstStyle/>
          <a:p>
            <a:pPr algn="l">
              <a:lnSpc>
                <a:spcPts val="4200"/>
              </a:lnSpc>
            </a:pPr>
            <a:r>
              <a:rPr lang="en-US" sz="3000">
                <a:solidFill>
                  <a:srgbClr val="000000"/>
                </a:solidFill>
                <a:latin typeface="Garet"/>
                <a:ea typeface="Garet"/>
                <a:cs typeface="Garet"/>
                <a:sym typeface="Garet"/>
              </a:rPr>
              <a:t>Dengan popu</a:t>
            </a:r>
            <a:r>
              <a:rPr lang="en-US" sz="3000">
                <a:solidFill>
                  <a:srgbClr val="000000"/>
                </a:solidFill>
                <a:latin typeface="Garet"/>
                <a:ea typeface="Garet"/>
                <a:cs typeface="Garet"/>
                <a:sym typeface="Garet"/>
              </a:rPr>
              <a:t>lasi sebanyak 2.039 mahasiswa, target sampel awal ditetapkan sebesar 100 responden dengan estimasi Margin of Error (MoE) sebesar 9,57%. Namun, karena perolehan akhir hanya mencapai 52 responden, maka MoE penelitian ini meningkat menjadi 13,44% pada tingkat kepercayaan 95%.</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685800"/>
            <a:ext cx="16230600" cy="9037609"/>
            <a:chOff x="0" y="0"/>
            <a:chExt cx="4274726" cy="2380276"/>
          </a:xfrm>
        </p:grpSpPr>
        <p:sp>
          <p:nvSpPr>
            <p:cNvPr name="Freeform 4" id="4"/>
            <p:cNvSpPr/>
            <p:nvPr/>
          </p:nvSpPr>
          <p:spPr>
            <a:xfrm flipH="false" flipV="false" rot="0">
              <a:off x="0" y="0"/>
              <a:ext cx="4274726" cy="2380275"/>
            </a:xfrm>
            <a:custGeom>
              <a:avLst/>
              <a:gdLst/>
              <a:ahLst/>
              <a:cxnLst/>
              <a:rect r="r" b="b" t="t" l="l"/>
              <a:pathLst>
                <a:path h="2380275" w="4274726">
                  <a:moveTo>
                    <a:pt x="24327" y="0"/>
                  </a:moveTo>
                  <a:lnTo>
                    <a:pt x="4250399" y="0"/>
                  </a:lnTo>
                  <a:cubicBezTo>
                    <a:pt x="4263834" y="0"/>
                    <a:pt x="4274726" y="10891"/>
                    <a:pt x="4274726" y="24327"/>
                  </a:cubicBezTo>
                  <a:lnTo>
                    <a:pt x="4274726" y="2355949"/>
                  </a:lnTo>
                  <a:cubicBezTo>
                    <a:pt x="4274726" y="2369384"/>
                    <a:pt x="4263834" y="2380275"/>
                    <a:pt x="4250399" y="2380275"/>
                  </a:cubicBezTo>
                  <a:lnTo>
                    <a:pt x="24327" y="2380275"/>
                  </a:lnTo>
                  <a:cubicBezTo>
                    <a:pt x="10891" y="2380275"/>
                    <a:pt x="0" y="2369384"/>
                    <a:pt x="0" y="2355949"/>
                  </a:cubicBezTo>
                  <a:lnTo>
                    <a:pt x="0" y="24327"/>
                  </a:lnTo>
                  <a:cubicBezTo>
                    <a:pt x="0" y="10891"/>
                    <a:pt x="10891" y="0"/>
                    <a:pt x="24327" y="0"/>
                  </a:cubicBezTo>
                  <a:close/>
                </a:path>
              </a:pathLst>
            </a:custGeom>
            <a:solidFill>
              <a:srgbClr val="FBFBFB">
                <a:alpha val="89804"/>
              </a:srgbClr>
            </a:solidFill>
          </p:spPr>
        </p:sp>
        <p:sp>
          <p:nvSpPr>
            <p:cNvPr name="TextBox 5" id="5"/>
            <p:cNvSpPr txBox="true"/>
            <p:nvPr/>
          </p:nvSpPr>
          <p:spPr>
            <a:xfrm>
              <a:off x="0" y="-38100"/>
              <a:ext cx="4274726" cy="241837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01846" y="153777"/>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2118233" y="334063"/>
            <a:ext cx="5474256" cy="771525"/>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Metode Samplig</a:t>
            </a:r>
          </a:p>
        </p:txBody>
      </p:sp>
      <p:sp>
        <p:nvSpPr>
          <p:cNvPr name="TextBox 10" id="10"/>
          <p:cNvSpPr txBox="true"/>
          <p:nvPr/>
        </p:nvSpPr>
        <p:spPr>
          <a:xfrm rot="0">
            <a:off x="2043824" y="3169602"/>
            <a:ext cx="14200352" cy="3900170"/>
          </a:xfrm>
          <a:prstGeom prst="rect">
            <a:avLst/>
          </a:prstGeom>
        </p:spPr>
        <p:txBody>
          <a:bodyPr anchor="t" rtlCol="false" tIns="0" lIns="0" bIns="0" rIns="0">
            <a:spAutoFit/>
          </a:bodyPr>
          <a:lstStyle/>
          <a:p>
            <a:pPr algn="just">
              <a:lnSpc>
                <a:spcPts val="4479"/>
              </a:lnSpc>
            </a:pPr>
            <a:r>
              <a:rPr lang="en-US" sz="3199">
                <a:solidFill>
                  <a:srgbClr val="000000"/>
                </a:solidFill>
                <a:latin typeface="Garet"/>
                <a:ea typeface="Garet"/>
                <a:cs typeface="Garet"/>
                <a:sym typeface="Garet"/>
              </a:rPr>
              <a:t>Penelitian ini menggunakan teknik </a:t>
            </a:r>
            <a:r>
              <a:rPr lang="en-US" b="true" sz="3199">
                <a:solidFill>
                  <a:srgbClr val="000000"/>
                </a:solidFill>
                <a:latin typeface="Garet Bold"/>
                <a:ea typeface="Garet Bold"/>
                <a:cs typeface="Garet Bold"/>
                <a:sym typeface="Garet Bold"/>
              </a:rPr>
              <a:t>Non-Probability Sampling</a:t>
            </a:r>
            <a:r>
              <a:rPr lang="en-US" sz="3199">
                <a:solidFill>
                  <a:srgbClr val="000000"/>
                </a:solidFill>
                <a:latin typeface="Garet"/>
                <a:ea typeface="Garet"/>
                <a:cs typeface="Garet"/>
                <a:sym typeface="Garet"/>
              </a:rPr>
              <a:t>, khususnya </a:t>
            </a:r>
            <a:r>
              <a:rPr lang="en-US" b="true" sz="3199">
                <a:solidFill>
                  <a:srgbClr val="000000"/>
                </a:solidFill>
                <a:latin typeface="Garet Bold"/>
                <a:ea typeface="Garet Bold"/>
                <a:cs typeface="Garet Bold"/>
                <a:sym typeface="Garet Bold"/>
              </a:rPr>
              <a:t>Convenience Sampling</a:t>
            </a:r>
            <a:r>
              <a:rPr lang="en-US" sz="3199">
                <a:solidFill>
                  <a:srgbClr val="000000"/>
                </a:solidFill>
                <a:latin typeface="Garet"/>
                <a:ea typeface="Garet"/>
                <a:cs typeface="Garet"/>
                <a:sym typeface="Garet"/>
              </a:rPr>
              <a:t>. Responden dipilih berdasarkan kesediaan dan aksesibilitas peneliti terhadap populasi mahasiswa. Meskipun metode ini memiliki keterbatasan dalam generalisasi ke seluruh populasi mahasiswa secara luas, hasil yang diperoleh memberikan gambaran awal yang signifikan mengenai tren gaya hidup di lingkungan akademik terkait.</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645669" y="685800"/>
            <a:ext cx="16969302" cy="9037609"/>
            <a:chOff x="0" y="0"/>
            <a:chExt cx="4469281" cy="2380276"/>
          </a:xfrm>
        </p:grpSpPr>
        <p:sp>
          <p:nvSpPr>
            <p:cNvPr name="Freeform 4" id="4"/>
            <p:cNvSpPr/>
            <p:nvPr/>
          </p:nvSpPr>
          <p:spPr>
            <a:xfrm flipH="false" flipV="false" rot="0">
              <a:off x="0" y="0"/>
              <a:ext cx="4469281" cy="2380275"/>
            </a:xfrm>
            <a:custGeom>
              <a:avLst/>
              <a:gdLst/>
              <a:ahLst/>
              <a:cxnLst/>
              <a:rect r="r" b="b" t="t" l="l"/>
              <a:pathLst>
                <a:path h="2380275" w="4469281">
                  <a:moveTo>
                    <a:pt x="23268" y="0"/>
                  </a:moveTo>
                  <a:lnTo>
                    <a:pt x="4446013" y="0"/>
                  </a:lnTo>
                  <a:cubicBezTo>
                    <a:pt x="4458864" y="0"/>
                    <a:pt x="4469281" y="10417"/>
                    <a:pt x="4469281" y="23268"/>
                  </a:cubicBezTo>
                  <a:lnTo>
                    <a:pt x="4469281" y="2357008"/>
                  </a:lnTo>
                  <a:cubicBezTo>
                    <a:pt x="4469281" y="2369858"/>
                    <a:pt x="4458864" y="2380275"/>
                    <a:pt x="4446013" y="2380275"/>
                  </a:cubicBezTo>
                  <a:lnTo>
                    <a:pt x="23268" y="2380275"/>
                  </a:lnTo>
                  <a:cubicBezTo>
                    <a:pt x="10417" y="2380275"/>
                    <a:pt x="0" y="2369858"/>
                    <a:pt x="0" y="2357008"/>
                  </a:cubicBezTo>
                  <a:lnTo>
                    <a:pt x="0" y="23268"/>
                  </a:lnTo>
                  <a:cubicBezTo>
                    <a:pt x="0" y="10417"/>
                    <a:pt x="10417" y="0"/>
                    <a:pt x="23268" y="0"/>
                  </a:cubicBezTo>
                  <a:close/>
                </a:path>
              </a:pathLst>
            </a:custGeom>
            <a:solidFill>
              <a:srgbClr val="FBFBFB">
                <a:alpha val="89804"/>
              </a:srgbClr>
            </a:solidFill>
          </p:spPr>
        </p:sp>
        <p:sp>
          <p:nvSpPr>
            <p:cNvPr name="TextBox 5" id="5"/>
            <p:cNvSpPr txBox="true"/>
            <p:nvPr/>
          </p:nvSpPr>
          <p:spPr>
            <a:xfrm>
              <a:off x="0" y="-38100"/>
              <a:ext cx="4469281" cy="241837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766002" y="153777"/>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527346" y="3782878"/>
            <a:ext cx="2657939" cy="1750038"/>
          </a:xfrm>
          <a:custGeom>
            <a:avLst/>
            <a:gdLst/>
            <a:ahLst/>
            <a:cxnLst/>
            <a:rect r="r" b="b" t="t" l="l"/>
            <a:pathLst>
              <a:path h="1750038" w="2657939">
                <a:moveTo>
                  <a:pt x="0" y="0"/>
                </a:moveTo>
                <a:lnTo>
                  <a:pt x="2657940" y="0"/>
                </a:lnTo>
                <a:lnTo>
                  <a:pt x="2657940" y="1750038"/>
                </a:lnTo>
                <a:lnTo>
                  <a:pt x="0" y="1750038"/>
                </a:lnTo>
                <a:lnTo>
                  <a:pt x="0" y="0"/>
                </a:lnTo>
                <a:close/>
              </a:path>
            </a:pathLst>
          </a:custGeom>
          <a:blipFill>
            <a:blip r:embed="rId3"/>
            <a:stretch>
              <a:fillRect l="-285565" t="-360872" r="-289890" b="-115900"/>
            </a:stretch>
          </a:blipFill>
        </p:spPr>
      </p:sp>
      <p:sp>
        <p:nvSpPr>
          <p:cNvPr name="TextBox 10" id="10"/>
          <p:cNvSpPr txBox="true"/>
          <p:nvPr/>
        </p:nvSpPr>
        <p:spPr>
          <a:xfrm rot="0">
            <a:off x="12446545" y="334063"/>
            <a:ext cx="5474256" cy="771525"/>
          </a:xfrm>
          <a:prstGeom prst="rect">
            <a:avLst/>
          </a:prstGeom>
        </p:spPr>
        <p:txBody>
          <a:bodyPr anchor="t" rtlCol="false" tIns="0" lIns="0" bIns="0" rIns="0">
            <a:spAutoFit/>
          </a:bodyPr>
          <a:lstStyle/>
          <a:p>
            <a:pPr algn="ctr">
              <a:lnSpc>
                <a:spcPts val="6299"/>
              </a:lnSpc>
            </a:pPr>
            <a:r>
              <a:rPr lang="en-US" sz="4500">
                <a:solidFill>
                  <a:srgbClr val="FFFFFF"/>
                </a:solidFill>
                <a:latin typeface="Yeseva One"/>
                <a:ea typeface="Yeseva One"/>
                <a:cs typeface="Yeseva One"/>
                <a:sym typeface="Yeseva One"/>
              </a:rPr>
              <a:t>Perhitungan</a:t>
            </a:r>
          </a:p>
        </p:txBody>
      </p:sp>
      <p:sp>
        <p:nvSpPr>
          <p:cNvPr name="TextBox 11" id="11"/>
          <p:cNvSpPr txBox="true"/>
          <p:nvPr/>
        </p:nvSpPr>
        <p:spPr>
          <a:xfrm rot="0">
            <a:off x="1143062" y="1565999"/>
            <a:ext cx="14040611" cy="7036434"/>
          </a:xfrm>
          <a:prstGeom prst="rect">
            <a:avLst/>
          </a:prstGeom>
        </p:spPr>
        <p:txBody>
          <a:bodyPr anchor="t" rtlCol="false" tIns="0" lIns="0" bIns="0" rIns="0">
            <a:spAutoFit/>
          </a:bodyPr>
          <a:lstStyle/>
          <a:p>
            <a:pPr algn="just">
              <a:lnSpc>
                <a:spcPts val="4340"/>
              </a:lnSpc>
            </a:pPr>
            <a:r>
              <a:rPr lang="en-US" sz="3100">
                <a:solidFill>
                  <a:srgbClr val="000000"/>
                </a:solidFill>
                <a:latin typeface="Garet"/>
                <a:ea typeface="Garet"/>
                <a:cs typeface="Garet"/>
                <a:sym typeface="Garet"/>
              </a:rPr>
              <a:t>J</a:t>
            </a:r>
            <a:r>
              <a:rPr lang="en-US" sz="3100">
                <a:solidFill>
                  <a:srgbClr val="000000"/>
                </a:solidFill>
                <a:latin typeface="Garet"/>
                <a:ea typeface="Garet"/>
                <a:cs typeface="Garet"/>
                <a:sym typeface="Garet"/>
              </a:rPr>
              <a:t>umlah sampel dalam penelitian ini ditentukan menggunakan rumus Slovin.</a:t>
            </a:r>
          </a:p>
          <a:p>
            <a:pPr algn="just">
              <a:lnSpc>
                <a:spcPts val="4340"/>
              </a:lnSpc>
            </a:pPr>
            <a:r>
              <a:rPr lang="en-US" sz="3100">
                <a:solidFill>
                  <a:srgbClr val="000000"/>
                </a:solidFill>
                <a:latin typeface="Garet"/>
                <a:ea typeface="Garet"/>
                <a:cs typeface="Garet"/>
                <a:sym typeface="Garet"/>
              </a:rPr>
              <a:t>Rumus Slovin:</a:t>
            </a:r>
          </a:p>
          <a:p>
            <a:pPr algn="just">
              <a:lnSpc>
                <a:spcPts val="4340"/>
              </a:lnSpc>
            </a:pPr>
          </a:p>
          <a:p>
            <a:pPr algn="just">
              <a:lnSpc>
                <a:spcPts val="4340"/>
              </a:lnSpc>
            </a:pPr>
          </a:p>
          <a:p>
            <a:pPr algn="just">
              <a:lnSpc>
                <a:spcPts val="4340"/>
              </a:lnSpc>
            </a:pPr>
          </a:p>
          <a:p>
            <a:pPr algn="just">
              <a:lnSpc>
                <a:spcPts val="4340"/>
              </a:lnSpc>
            </a:pPr>
          </a:p>
          <a:p>
            <a:pPr algn="just">
              <a:lnSpc>
                <a:spcPts val="4340"/>
              </a:lnSpc>
            </a:pPr>
          </a:p>
          <a:p>
            <a:pPr algn="just">
              <a:lnSpc>
                <a:spcPts val="4340"/>
              </a:lnSpc>
            </a:pPr>
            <a:r>
              <a:rPr lang="en-US" sz="3100">
                <a:solidFill>
                  <a:srgbClr val="000000"/>
                </a:solidFill>
                <a:latin typeface="Garet"/>
                <a:ea typeface="Garet"/>
                <a:cs typeface="Garet"/>
                <a:sym typeface="Garet"/>
              </a:rPr>
              <a:t>Keterangan:</a:t>
            </a:r>
          </a:p>
          <a:p>
            <a:pPr algn="just">
              <a:lnSpc>
                <a:spcPts val="4340"/>
              </a:lnSpc>
            </a:pPr>
            <a:r>
              <a:rPr lang="en-US" sz="3100">
                <a:solidFill>
                  <a:srgbClr val="000000"/>
                </a:solidFill>
                <a:latin typeface="Garet"/>
                <a:ea typeface="Garet"/>
                <a:cs typeface="Garet"/>
                <a:sym typeface="Garet"/>
              </a:rPr>
              <a:t> N = jumlah populasi</a:t>
            </a:r>
          </a:p>
          <a:p>
            <a:pPr algn="just">
              <a:lnSpc>
                <a:spcPts val="4340"/>
              </a:lnSpc>
            </a:pPr>
            <a:r>
              <a:rPr lang="en-US" sz="3100">
                <a:solidFill>
                  <a:srgbClr val="000000"/>
                </a:solidFill>
                <a:latin typeface="Garet"/>
                <a:ea typeface="Garet"/>
                <a:cs typeface="Garet"/>
                <a:sym typeface="Garet"/>
              </a:rPr>
              <a:t> n = jumlah sampel</a:t>
            </a:r>
          </a:p>
          <a:p>
            <a:pPr algn="just">
              <a:lnSpc>
                <a:spcPts val="4340"/>
              </a:lnSpc>
            </a:pPr>
            <a:r>
              <a:rPr lang="en-US" sz="3100">
                <a:solidFill>
                  <a:srgbClr val="000000"/>
                </a:solidFill>
                <a:latin typeface="Garet"/>
                <a:ea typeface="Garet"/>
                <a:cs typeface="Garet"/>
                <a:sym typeface="Garet"/>
              </a:rPr>
              <a:t> e = tingkat kesalahan (10%)</a:t>
            </a:r>
          </a:p>
          <a:p>
            <a:pPr algn="just">
              <a:lnSpc>
                <a:spcPts val="4340"/>
              </a:lnSpc>
            </a:pPr>
          </a:p>
        </p:txBody>
      </p:sp>
    </p:spTree>
  </p:cSld>
  <p:clrMapOvr>
    <a:masterClrMapping/>
  </p:clrMapOvr>
  <p:transition spd="slow">
    <p:cover dir="r"/>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grpSp>
        <p:nvGrpSpPr>
          <p:cNvPr name="Group 3" id="3"/>
          <p:cNvGrpSpPr/>
          <p:nvPr/>
        </p:nvGrpSpPr>
        <p:grpSpPr>
          <a:xfrm rot="0">
            <a:off x="426795" y="384847"/>
            <a:ext cx="17407051" cy="9502717"/>
            <a:chOff x="0" y="0"/>
            <a:chExt cx="4584573" cy="2502773"/>
          </a:xfrm>
        </p:grpSpPr>
        <p:sp>
          <p:nvSpPr>
            <p:cNvPr name="Freeform 4" id="4"/>
            <p:cNvSpPr/>
            <p:nvPr/>
          </p:nvSpPr>
          <p:spPr>
            <a:xfrm flipH="false" flipV="false" rot="0">
              <a:off x="0" y="0"/>
              <a:ext cx="4584573" cy="2502773"/>
            </a:xfrm>
            <a:custGeom>
              <a:avLst/>
              <a:gdLst/>
              <a:ahLst/>
              <a:cxnLst/>
              <a:rect r="r" b="b" t="t" l="l"/>
              <a:pathLst>
                <a:path h="2502773" w="4584573">
                  <a:moveTo>
                    <a:pt x="22683" y="0"/>
                  </a:moveTo>
                  <a:lnTo>
                    <a:pt x="4561891" y="0"/>
                  </a:lnTo>
                  <a:cubicBezTo>
                    <a:pt x="4574418" y="0"/>
                    <a:pt x="4584573" y="10155"/>
                    <a:pt x="4584573" y="22683"/>
                  </a:cubicBezTo>
                  <a:lnTo>
                    <a:pt x="4584573" y="2480090"/>
                  </a:lnTo>
                  <a:cubicBezTo>
                    <a:pt x="4584573" y="2492618"/>
                    <a:pt x="4574418" y="2502773"/>
                    <a:pt x="4561891" y="2502773"/>
                  </a:cubicBezTo>
                  <a:lnTo>
                    <a:pt x="22683" y="2502773"/>
                  </a:lnTo>
                  <a:cubicBezTo>
                    <a:pt x="16667" y="2502773"/>
                    <a:pt x="10897" y="2500383"/>
                    <a:pt x="6644" y="2496130"/>
                  </a:cubicBezTo>
                  <a:cubicBezTo>
                    <a:pt x="2390" y="2491876"/>
                    <a:pt x="0" y="2486106"/>
                    <a:pt x="0" y="2480090"/>
                  </a:cubicBezTo>
                  <a:lnTo>
                    <a:pt x="0" y="22683"/>
                  </a:lnTo>
                  <a:cubicBezTo>
                    <a:pt x="0" y="16667"/>
                    <a:pt x="2390" y="10897"/>
                    <a:pt x="6644" y="6644"/>
                  </a:cubicBezTo>
                  <a:cubicBezTo>
                    <a:pt x="10897" y="2390"/>
                    <a:pt x="16667" y="0"/>
                    <a:pt x="22683" y="0"/>
                  </a:cubicBezTo>
                  <a:close/>
                </a:path>
              </a:pathLst>
            </a:custGeom>
            <a:solidFill>
              <a:srgbClr val="FBFBFB">
                <a:alpha val="89804"/>
              </a:srgbClr>
            </a:solidFill>
          </p:spPr>
        </p:sp>
        <p:sp>
          <p:nvSpPr>
            <p:cNvPr name="TextBox 5" id="5"/>
            <p:cNvSpPr txBox="true"/>
            <p:nvPr/>
          </p:nvSpPr>
          <p:spPr>
            <a:xfrm>
              <a:off x="0" y="-38100"/>
              <a:ext cx="4584573" cy="254087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3199131"/>
            <a:ext cx="4768617" cy="5981698"/>
          </a:xfrm>
          <a:custGeom>
            <a:avLst/>
            <a:gdLst/>
            <a:ahLst/>
            <a:cxnLst/>
            <a:rect r="r" b="b" t="t" l="l"/>
            <a:pathLst>
              <a:path h="5981698" w="4768617">
                <a:moveTo>
                  <a:pt x="0" y="0"/>
                </a:moveTo>
                <a:lnTo>
                  <a:pt x="4768617" y="0"/>
                </a:lnTo>
                <a:lnTo>
                  <a:pt x="4768617" y="5981698"/>
                </a:lnTo>
                <a:lnTo>
                  <a:pt x="0" y="5981698"/>
                </a:lnTo>
                <a:lnTo>
                  <a:pt x="0" y="0"/>
                </a:lnTo>
                <a:close/>
              </a:path>
            </a:pathLst>
          </a:custGeom>
          <a:blipFill>
            <a:blip r:embed="rId3"/>
            <a:stretch>
              <a:fillRect l="-165108" t="-48701" r="-118052" b="-23034"/>
            </a:stretch>
          </a:blipFill>
        </p:spPr>
      </p:sp>
      <p:sp>
        <p:nvSpPr>
          <p:cNvPr name="TextBox 7" id="7"/>
          <p:cNvSpPr txBox="true"/>
          <p:nvPr/>
        </p:nvSpPr>
        <p:spPr>
          <a:xfrm rot="0">
            <a:off x="1028700" y="648588"/>
            <a:ext cx="14040611" cy="2693034"/>
          </a:xfrm>
          <a:prstGeom prst="rect">
            <a:avLst/>
          </a:prstGeom>
        </p:spPr>
        <p:txBody>
          <a:bodyPr anchor="t" rtlCol="false" tIns="0" lIns="0" bIns="0" rIns="0">
            <a:spAutoFit/>
          </a:bodyPr>
          <a:lstStyle/>
          <a:p>
            <a:pPr algn="just">
              <a:lnSpc>
                <a:spcPts val="4340"/>
              </a:lnSpc>
            </a:pPr>
            <a:r>
              <a:rPr lang="en-US" sz="3100">
                <a:solidFill>
                  <a:srgbClr val="000000"/>
                </a:solidFill>
                <a:latin typeface="Garet"/>
                <a:ea typeface="Garet"/>
                <a:cs typeface="Garet"/>
                <a:sym typeface="Garet"/>
              </a:rPr>
              <a:t>J</a:t>
            </a:r>
            <a:r>
              <a:rPr lang="en-US" sz="3100">
                <a:solidFill>
                  <a:srgbClr val="000000"/>
                </a:solidFill>
                <a:latin typeface="Garet"/>
                <a:ea typeface="Garet"/>
                <a:cs typeface="Garet"/>
                <a:sym typeface="Garet"/>
              </a:rPr>
              <a:t>umlah populasi mahasiswa aktif Institut Teknologi Sains Bandung (ITSB) adalah 2.039 mahasiswa dengan tingkat kesalahan sebesar 10% (0,1).</a:t>
            </a:r>
          </a:p>
          <a:p>
            <a:pPr algn="just">
              <a:lnSpc>
                <a:spcPts val="4340"/>
              </a:lnSpc>
            </a:pPr>
            <a:r>
              <a:rPr lang="en-US" sz="3100">
                <a:solidFill>
                  <a:srgbClr val="000000"/>
                </a:solidFill>
                <a:latin typeface="Garet"/>
                <a:ea typeface="Garet"/>
                <a:cs typeface="Garet"/>
                <a:sym typeface="Garet"/>
              </a:rPr>
              <a:t>Perhitungan jumlah sampel adalah sebagai berikut:</a:t>
            </a:r>
          </a:p>
          <a:p>
            <a:pPr algn="just">
              <a:lnSpc>
                <a:spcPts val="4340"/>
              </a:lnSpc>
            </a:pPr>
          </a:p>
        </p:txBody>
      </p:sp>
      <p:sp>
        <p:nvSpPr>
          <p:cNvPr name="TextBox 8" id="8"/>
          <p:cNvSpPr txBox="true"/>
          <p:nvPr/>
        </p:nvSpPr>
        <p:spPr>
          <a:xfrm rot="0">
            <a:off x="6651989" y="5086350"/>
            <a:ext cx="10607311" cy="2150110"/>
          </a:xfrm>
          <a:prstGeom prst="rect">
            <a:avLst/>
          </a:prstGeom>
        </p:spPr>
        <p:txBody>
          <a:bodyPr anchor="t" rtlCol="false" tIns="0" lIns="0" bIns="0" rIns="0">
            <a:spAutoFit/>
          </a:bodyPr>
          <a:lstStyle/>
          <a:p>
            <a:pPr algn="just">
              <a:lnSpc>
                <a:spcPts val="4339"/>
              </a:lnSpc>
            </a:pPr>
            <a:r>
              <a:rPr lang="en-US" sz="3099">
                <a:solidFill>
                  <a:srgbClr val="000000"/>
                </a:solidFill>
                <a:latin typeface="Garet"/>
                <a:ea typeface="Garet"/>
                <a:cs typeface="Garet"/>
                <a:sym typeface="Garet"/>
              </a:rPr>
              <a:t>Berd</a:t>
            </a:r>
            <a:r>
              <a:rPr lang="en-US" sz="3099">
                <a:solidFill>
                  <a:srgbClr val="000000"/>
                </a:solidFill>
                <a:latin typeface="Garet"/>
                <a:ea typeface="Garet"/>
                <a:cs typeface="Garet"/>
                <a:sym typeface="Garet"/>
              </a:rPr>
              <a:t>asarkan hasil perhitungan tersebut, jumlah sampel yang digunakan dalam penelitian ini adalah 95 responden dan dibulatkan menjadi 100 responden.</a:t>
            </a:r>
          </a:p>
        </p:txBody>
      </p:sp>
    </p:spTree>
  </p:cSld>
  <p:clrMapOvr>
    <a:masterClrMapping/>
  </p:clrMapOvr>
  <p:transition spd="slow">
    <p:cover dir="r"/>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755107" y="685800"/>
            <a:ext cx="16750427" cy="8982890"/>
            <a:chOff x="0" y="0"/>
            <a:chExt cx="4411635" cy="2365864"/>
          </a:xfrm>
        </p:grpSpPr>
        <p:sp>
          <p:nvSpPr>
            <p:cNvPr name="Freeform 4" id="4"/>
            <p:cNvSpPr/>
            <p:nvPr/>
          </p:nvSpPr>
          <p:spPr>
            <a:xfrm flipH="false" flipV="false" rot="0">
              <a:off x="0" y="0"/>
              <a:ext cx="4411635" cy="2365864"/>
            </a:xfrm>
            <a:custGeom>
              <a:avLst/>
              <a:gdLst/>
              <a:ahLst/>
              <a:cxnLst/>
              <a:rect r="r" b="b" t="t" l="l"/>
              <a:pathLst>
                <a:path h="2365864" w="4411635">
                  <a:moveTo>
                    <a:pt x="23572" y="0"/>
                  </a:moveTo>
                  <a:lnTo>
                    <a:pt x="4388063" y="0"/>
                  </a:lnTo>
                  <a:cubicBezTo>
                    <a:pt x="4394315" y="0"/>
                    <a:pt x="4400310" y="2483"/>
                    <a:pt x="4404731" y="6904"/>
                  </a:cubicBezTo>
                  <a:cubicBezTo>
                    <a:pt x="4409151" y="11325"/>
                    <a:pt x="4411635" y="17320"/>
                    <a:pt x="4411635" y="23572"/>
                  </a:cubicBezTo>
                  <a:lnTo>
                    <a:pt x="4411635" y="2342292"/>
                  </a:lnTo>
                  <a:cubicBezTo>
                    <a:pt x="4411635" y="2348544"/>
                    <a:pt x="4409151" y="2354539"/>
                    <a:pt x="4404731" y="2358960"/>
                  </a:cubicBezTo>
                  <a:cubicBezTo>
                    <a:pt x="4400310" y="2363381"/>
                    <a:pt x="4394315" y="2365864"/>
                    <a:pt x="4388063" y="2365864"/>
                  </a:cubicBezTo>
                  <a:lnTo>
                    <a:pt x="23572" y="2365864"/>
                  </a:lnTo>
                  <a:cubicBezTo>
                    <a:pt x="17320" y="2365864"/>
                    <a:pt x="11325" y="2363381"/>
                    <a:pt x="6904" y="2358960"/>
                  </a:cubicBezTo>
                  <a:cubicBezTo>
                    <a:pt x="2483" y="2354539"/>
                    <a:pt x="0" y="2348544"/>
                    <a:pt x="0" y="2342292"/>
                  </a:cubicBezTo>
                  <a:lnTo>
                    <a:pt x="0" y="23572"/>
                  </a:lnTo>
                  <a:cubicBezTo>
                    <a:pt x="0" y="17320"/>
                    <a:pt x="2483" y="11325"/>
                    <a:pt x="6904" y="6904"/>
                  </a:cubicBezTo>
                  <a:cubicBezTo>
                    <a:pt x="11325" y="2483"/>
                    <a:pt x="17320" y="0"/>
                    <a:pt x="23572" y="0"/>
                  </a:cubicBezTo>
                  <a:close/>
                </a:path>
              </a:pathLst>
            </a:custGeom>
            <a:solidFill>
              <a:srgbClr val="FBFBFB">
                <a:alpha val="89804"/>
              </a:srgbClr>
            </a:solidFill>
          </p:spPr>
        </p:sp>
        <p:sp>
          <p:nvSpPr>
            <p:cNvPr name="TextBox 5" id="5"/>
            <p:cNvSpPr txBox="true"/>
            <p:nvPr/>
          </p:nvSpPr>
          <p:spPr>
            <a:xfrm>
              <a:off x="0" y="-38100"/>
              <a:ext cx="4411635" cy="240396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519768" y="76888"/>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248229" y="1821762"/>
            <a:ext cx="14935580" cy="1047750"/>
          </a:xfrm>
          <a:prstGeom prst="rect">
            <a:avLst/>
          </a:prstGeom>
        </p:spPr>
        <p:txBody>
          <a:bodyPr anchor="t" rtlCol="false" tIns="0" lIns="0" bIns="0" rIns="0">
            <a:spAutoFit/>
          </a:bodyPr>
          <a:lstStyle/>
          <a:p>
            <a:pPr algn="l">
              <a:lnSpc>
                <a:spcPts val="4200"/>
              </a:lnSpc>
            </a:pPr>
            <a:r>
              <a:rPr lang="en-US" sz="3000">
                <a:solidFill>
                  <a:srgbClr val="000000"/>
                </a:solidFill>
                <a:latin typeface="Garet"/>
                <a:ea typeface="Garet"/>
                <a:cs typeface="Garet"/>
                <a:sym typeface="Garet"/>
              </a:rPr>
              <a:t>Dalam pelaksanaannya, jumlah responden yan</a:t>
            </a:r>
            <a:r>
              <a:rPr lang="en-US" sz="3000">
                <a:solidFill>
                  <a:srgbClr val="000000"/>
                </a:solidFill>
                <a:latin typeface="Garet"/>
                <a:ea typeface="Garet"/>
                <a:cs typeface="Garet"/>
                <a:sym typeface="Garet"/>
              </a:rPr>
              <a:t>g berhasil diperoleh hanya sebanyak 52 responden.</a:t>
            </a:r>
          </a:p>
        </p:txBody>
      </p:sp>
      <p:sp>
        <p:nvSpPr>
          <p:cNvPr name="TextBox 10" id="10"/>
          <p:cNvSpPr txBox="true"/>
          <p:nvPr/>
        </p:nvSpPr>
        <p:spPr>
          <a:xfrm rot="0">
            <a:off x="11153710" y="317500"/>
            <a:ext cx="7895771" cy="669925"/>
          </a:xfrm>
          <a:prstGeom prst="rect">
            <a:avLst/>
          </a:prstGeom>
        </p:spPr>
        <p:txBody>
          <a:bodyPr anchor="t" rtlCol="false" tIns="0" lIns="0" bIns="0" rIns="0">
            <a:spAutoFit/>
          </a:bodyPr>
          <a:lstStyle/>
          <a:p>
            <a:pPr algn="ctr">
              <a:lnSpc>
                <a:spcPts val="5599"/>
              </a:lnSpc>
            </a:pPr>
            <a:r>
              <a:rPr lang="en-US" b="true" sz="3999">
                <a:solidFill>
                  <a:srgbClr val="FBFBFB"/>
                </a:solidFill>
                <a:latin typeface="Garet Bold"/>
                <a:ea typeface="Garet Bold"/>
                <a:cs typeface="Garet Bold"/>
                <a:sym typeface="Garet Bold"/>
              </a:rPr>
              <a:t>Estimasi Statistik</a:t>
            </a:r>
          </a:p>
        </p:txBody>
      </p:sp>
      <p:pic>
        <p:nvPicPr>
          <p:cNvPr name="Picture 11" id="11"/>
          <p:cNvPicPr>
            <a:picLocks noChangeAspect="true"/>
          </p:cNvPicPr>
          <p:nvPr/>
        </p:nvPicPr>
        <p:blipFill>
          <a:blip r:embed="rId3"/>
          <a:stretch>
            <a:fillRect/>
          </a:stretch>
        </p:blipFill>
        <p:spPr>
          <a:xfrm rot="0">
            <a:off x="739234" y="2945602"/>
            <a:ext cx="6107939" cy="5148227"/>
          </a:xfrm>
          <a:prstGeom prst="rect">
            <a:avLst/>
          </a:prstGeom>
        </p:spPr>
      </p:pic>
      <p:sp>
        <p:nvSpPr>
          <p:cNvPr name="TextBox 12" id="12"/>
          <p:cNvSpPr txBox="true"/>
          <p:nvPr/>
        </p:nvSpPr>
        <p:spPr>
          <a:xfrm rot="0">
            <a:off x="1566690" y="8131820"/>
            <a:ext cx="15192720" cy="921661"/>
          </a:xfrm>
          <a:prstGeom prst="rect">
            <a:avLst/>
          </a:prstGeom>
        </p:spPr>
        <p:txBody>
          <a:bodyPr anchor="t" rtlCol="false" tIns="0" lIns="0" bIns="0" rIns="0">
            <a:spAutoFit/>
          </a:bodyPr>
          <a:lstStyle/>
          <a:p>
            <a:pPr algn="l">
              <a:lnSpc>
                <a:spcPts val="3799"/>
              </a:lnSpc>
            </a:pPr>
            <a:r>
              <a:rPr lang="en-US" sz="2714">
                <a:solidFill>
                  <a:srgbClr val="000000"/>
                </a:solidFill>
                <a:latin typeface="Garet"/>
                <a:ea typeface="Garet"/>
                <a:cs typeface="Garet"/>
                <a:sym typeface="Garet"/>
              </a:rPr>
              <a:t> Berdasarkan jumlah responden aktual sebanyak</a:t>
            </a:r>
            <a:r>
              <a:rPr lang="en-US" sz="2714">
                <a:solidFill>
                  <a:srgbClr val="000000"/>
                </a:solidFill>
                <a:latin typeface="Garet"/>
                <a:ea typeface="Garet"/>
                <a:cs typeface="Garet"/>
                <a:sym typeface="Garet"/>
              </a:rPr>
              <a:t> 52 mahasiswa, diperoleh Margin of Error sebesar 13.58% pada confidence level 95%.</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62826" y="400685"/>
            <a:ext cx="17199081" cy="9396192"/>
            <a:chOff x="0" y="0"/>
            <a:chExt cx="4529799" cy="2474717"/>
          </a:xfrm>
        </p:grpSpPr>
        <p:sp>
          <p:nvSpPr>
            <p:cNvPr name="Freeform 4" id="4"/>
            <p:cNvSpPr/>
            <p:nvPr/>
          </p:nvSpPr>
          <p:spPr>
            <a:xfrm flipH="false" flipV="false" rot="0">
              <a:off x="0" y="0"/>
              <a:ext cx="4529799" cy="2474717"/>
            </a:xfrm>
            <a:custGeom>
              <a:avLst/>
              <a:gdLst/>
              <a:ahLst/>
              <a:cxnLst/>
              <a:rect r="r" b="b" t="t" l="l"/>
              <a:pathLst>
                <a:path h="2474717" w="4529799">
                  <a:moveTo>
                    <a:pt x="22957" y="0"/>
                  </a:moveTo>
                  <a:lnTo>
                    <a:pt x="4506842" y="0"/>
                  </a:lnTo>
                  <a:cubicBezTo>
                    <a:pt x="4512931" y="0"/>
                    <a:pt x="4518770" y="2419"/>
                    <a:pt x="4523075" y="6724"/>
                  </a:cubicBezTo>
                  <a:cubicBezTo>
                    <a:pt x="4527380" y="11029"/>
                    <a:pt x="4529799" y="16868"/>
                    <a:pt x="4529799" y="22957"/>
                  </a:cubicBezTo>
                  <a:lnTo>
                    <a:pt x="4529799" y="2451760"/>
                  </a:lnTo>
                  <a:cubicBezTo>
                    <a:pt x="4529799" y="2457849"/>
                    <a:pt x="4527380" y="2463688"/>
                    <a:pt x="4523075" y="2467993"/>
                  </a:cubicBezTo>
                  <a:cubicBezTo>
                    <a:pt x="4518770" y="2472299"/>
                    <a:pt x="4512931" y="2474717"/>
                    <a:pt x="4506842" y="2474717"/>
                  </a:cubicBezTo>
                  <a:lnTo>
                    <a:pt x="22957" y="2474717"/>
                  </a:lnTo>
                  <a:cubicBezTo>
                    <a:pt x="16868" y="2474717"/>
                    <a:pt x="11029" y="2472299"/>
                    <a:pt x="6724" y="2467993"/>
                  </a:cubicBezTo>
                  <a:cubicBezTo>
                    <a:pt x="2419" y="2463688"/>
                    <a:pt x="0" y="2457849"/>
                    <a:pt x="0" y="2451760"/>
                  </a:cubicBezTo>
                  <a:lnTo>
                    <a:pt x="0" y="22957"/>
                  </a:lnTo>
                  <a:cubicBezTo>
                    <a:pt x="0" y="16868"/>
                    <a:pt x="2419" y="11029"/>
                    <a:pt x="6724" y="6724"/>
                  </a:cubicBezTo>
                  <a:cubicBezTo>
                    <a:pt x="11029" y="2419"/>
                    <a:pt x="16868" y="0"/>
                    <a:pt x="22957" y="0"/>
                  </a:cubicBezTo>
                  <a:close/>
                </a:path>
              </a:pathLst>
            </a:custGeom>
            <a:solidFill>
              <a:srgbClr val="FBFBFB">
                <a:alpha val="89804"/>
              </a:srgbClr>
            </a:solidFill>
          </p:spPr>
        </p:sp>
        <p:sp>
          <p:nvSpPr>
            <p:cNvPr name="TextBox 5" id="5"/>
            <p:cNvSpPr txBox="true"/>
            <p:nvPr/>
          </p:nvSpPr>
          <p:spPr>
            <a:xfrm>
              <a:off x="0" y="-38100"/>
              <a:ext cx="4529799" cy="251281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162367" y="76888"/>
            <a:ext cx="9521055" cy="1012448"/>
            <a:chOff x="0" y="0"/>
            <a:chExt cx="2507603" cy="266653"/>
          </a:xfrm>
        </p:grpSpPr>
        <p:sp>
          <p:nvSpPr>
            <p:cNvPr name="Freeform 7" id="7"/>
            <p:cNvSpPr/>
            <p:nvPr/>
          </p:nvSpPr>
          <p:spPr>
            <a:xfrm flipH="false" flipV="false" rot="0">
              <a:off x="0" y="0"/>
              <a:ext cx="2507603" cy="266653"/>
            </a:xfrm>
            <a:custGeom>
              <a:avLst/>
              <a:gdLst/>
              <a:ahLst/>
              <a:cxnLst/>
              <a:rect r="r" b="b" t="t" l="l"/>
              <a:pathLst>
                <a:path h="266653" w="2507603">
                  <a:moveTo>
                    <a:pt x="41470" y="0"/>
                  </a:moveTo>
                  <a:lnTo>
                    <a:pt x="2466133" y="0"/>
                  </a:lnTo>
                  <a:cubicBezTo>
                    <a:pt x="2477132" y="0"/>
                    <a:pt x="2487680" y="4369"/>
                    <a:pt x="2495457" y="12146"/>
                  </a:cubicBezTo>
                  <a:cubicBezTo>
                    <a:pt x="2503234" y="19923"/>
                    <a:pt x="2507603" y="30471"/>
                    <a:pt x="2507603" y="41470"/>
                  </a:cubicBezTo>
                  <a:lnTo>
                    <a:pt x="2507603" y="225183"/>
                  </a:lnTo>
                  <a:cubicBezTo>
                    <a:pt x="2507603" y="236181"/>
                    <a:pt x="2503234" y="246730"/>
                    <a:pt x="2495457" y="254507"/>
                  </a:cubicBezTo>
                  <a:cubicBezTo>
                    <a:pt x="2487680" y="262284"/>
                    <a:pt x="2477132" y="266653"/>
                    <a:pt x="2466133" y="266653"/>
                  </a:cubicBezTo>
                  <a:lnTo>
                    <a:pt x="41470" y="266653"/>
                  </a:lnTo>
                  <a:cubicBezTo>
                    <a:pt x="30471" y="266653"/>
                    <a:pt x="19923" y="262284"/>
                    <a:pt x="12146" y="254507"/>
                  </a:cubicBezTo>
                  <a:cubicBezTo>
                    <a:pt x="4369" y="246730"/>
                    <a:pt x="0" y="236181"/>
                    <a:pt x="0" y="225183"/>
                  </a:cubicBezTo>
                  <a:lnTo>
                    <a:pt x="0" y="41470"/>
                  </a:lnTo>
                  <a:cubicBezTo>
                    <a:pt x="0" y="30471"/>
                    <a:pt x="4369" y="19923"/>
                    <a:pt x="12146" y="12146"/>
                  </a:cubicBezTo>
                  <a:cubicBezTo>
                    <a:pt x="19923" y="4369"/>
                    <a:pt x="30471" y="0"/>
                    <a:pt x="41470" y="0"/>
                  </a:cubicBezTo>
                  <a:close/>
                </a:path>
              </a:pathLst>
            </a:custGeom>
            <a:solidFill>
              <a:srgbClr val="0D0F68"/>
            </a:solidFill>
          </p:spPr>
        </p:sp>
        <p:sp>
          <p:nvSpPr>
            <p:cNvPr name="TextBox 8" id="8"/>
            <p:cNvSpPr txBox="true"/>
            <p:nvPr/>
          </p:nvSpPr>
          <p:spPr>
            <a:xfrm>
              <a:off x="0" y="-38100"/>
              <a:ext cx="2507603" cy="304753"/>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4002386" y="1144626"/>
            <a:ext cx="10283228" cy="6539562"/>
          </a:xfrm>
          <a:custGeom>
            <a:avLst/>
            <a:gdLst/>
            <a:ahLst/>
            <a:cxnLst/>
            <a:rect r="r" b="b" t="t" l="l"/>
            <a:pathLst>
              <a:path h="6539562" w="10283228">
                <a:moveTo>
                  <a:pt x="0" y="0"/>
                </a:moveTo>
                <a:lnTo>
                  <a:pt x="10283228" y="0"/>
                </a:lnTo>
                <a:lnTo>
                  <a:pt x="10283228" y="6539561"/>
                </a:lnTo>
                <a:lnTo>
                  <a:pt x="0" y="6539561"/>
                </a:lnTo>
                <a:lnTo>
                  <a:pt x="0" y="0"/>
                </a:lnTo>
                <a:close/>
              </a:path>
            </a:pathLst>
          </a:custGeom>
          <a:blipFill>
            <a:blip r:embed="rId3"/>
            <a:stretch>
              <a:fillRect l="-1484" t="0" r="-1484" b="0"/>
            </a:stretch>
          </a:blipFill>
        </p:spPr>
      </p:sp>
      <p:sp>
        <p:nvSpPr>
          <p:cNvPr name="TextBox 10" id="10"/>
          <p:cNvSpPr txBox="true"/>
          <p:nvPr/>
        </p:nvSpPr>
        <p:spPr>
          <a:xfrm rot="0">
            <a:off x="9596964" y="243070"/>
            <a:ext cx="8691036" cy="613410"/>
          </a:xfrm>
          <a:prstGeom prst="rect">
            <a:avLst/>
          </a:prstGeom>
        </p:spPr>
        <p:txBody>
          <a:bodyPr anchor="t" rtlCol="false" tIns="0" lIns="0" bIns="0" rIns="0">
            <a:spAutoFit/>
          </a:bodyPr>
          <a:lstStyle/>
          <a:p>
            <a:pPr algn="ctr">
              <a:lnSpc>
                <a:spcPts val="5040"/>
              </a:lnSpc>
            </a:pPr>
            <a:r>
              <a:rPr lang="en-US" b="true" sz="3600">
                <a:solidFill>
                  <a:srgbClr val="FBFBFB"/>
                </a:solidFill>
                <a:latin typeface="Garet Bold"/>
                <a:ea typeface="Garet Bold"/>
                <a:cs typeface="Garet Bold"/>
                <a:sym typeface="Garet Bold"/>
              </a:rPr>
              <a:t>Kurva Distribusi Normal (Z-Score)</a:t>
            </a:r>
          </a:p>
        </p:txBody>
      </p:sp>
      <p:sp>
        <p:nvSpPr>
          <p:cNvPr name="TextBox 11" id="11"/>
          <p:cNvSpPr txBox="true"/>
          <p:nvPr/>
        </p:nvSpPr>
        <p:spPr>
          <a:xfrm rot="0">
            <a:off x="1882940" y="7682327"/>
            <a:ext cx="15376360" cy="2114550"/>
          </a:xfrm>
          <a:prstGeom prst="rect">
            <a:avLst/>
          </a:prstGeom>
        </p:spPr>
        <p:txBody>
          <a:bodyPr anchor="t" rtlCol="false" tIns="0" lIns="0" bIns="0" rIns="0">
            <a:spAutoFit/>
          </a:bodyPr>
          <a:lstStyle/>
          <a:p>
            <a:pPr algn="l">
              <a:lnSpc>
                <a:spcPts val="4200"/>
              </a:lnSpc>
            </a:pPr>
            <a:r>
              <a:rPr lang="en-US" sz="3000">
                <a:solidFill>
                  <a:srgbClr val="000000"/>
                </a:solidFill>
                <a:latin typeface="Garet"/>
                <a:ea typeface="Garet"/>
                <a:cs typeface="Garet"/>
                <a:sym typeface="Garet"/>
              </a:rPr>
              <a:t>Grafik menunjukka</a:t>
            </a:r>
            <a:r>
              <a:rPr lang="en-US" sz="3000">
                <a:solidFill>
                  <a:srgbClr val="000000"/>
                </a:solidFill>
                <a:latin typeface="Garet"/>
                <a:ea typeface="Garet"/>
                <a:cs typeface="Garet"/>
                <a:sym typeface="Garet"/>
              </a:rPr>
              <a:t>n distribusi normal dengan tingkat kepercayaan 95% (Z = 1,96). Area yang diarsir menandakan bahwa sekitar 95% data berada pada rentang Z -1,96 hingga +1,96, sedangkan 5% sisanya berada di</a:t>
            </a:r>
            <a:r>
              <a:rPr lang="en-US" sz="3000">
                <a:solidFill>
                  <a:srgbClr val="000000"/>
                </a:solidFill>
                <a:latin typeface="Garet"/>
                <a:ea typeface="Garet"/>
                <a:cs typeface="Garet"/>
                <a:sym typeface="Garet"/>
              </a:rPr>
              <a:t> l</a:t>
            </a:r>
            <a:r>
              <a:rPr lang="en-US" sz="3000">
                <a:solidFill>
                  <a:srgbClr val="000000"/>
                </a:solidFill>
                <a:latin typeface="Garet"/>
                <a:ea typeface="Garet"/>
                <a:cs typeface="Garet"/>
                <a:sym typeface="Garet"/>
              </a:rPr>
              <a:t>ua</a:t>
            </a:r>
            <a:r>
              <a:rPr lang="en-US" sz="3000">
                <a:solidFill>
                  <a:srgbClr val="000000"/>
                </a:solidFill>
                <a:latin typeface="Garet"/>
                <a:ea typeface="Garet"/>
                <a:cs typeface="Garet"/>
                <a:sym typeface="Garet"/>
              </a:rPr>
              <a:t>r area t</a:t>
            </a:r>
            <a:r>
              <a:rPr lang="en-US" sz="3000">
                <a:solidFill>
                  <a:srgbClr val="000000"/>
                </a:solidFill>
                <a:latin typeface="Garet"/>
                <a:ea typeface="Garet"/>
                <a:cs typeface="Garet"/>
                <a:sym typeface="Garet"/>
              </a:rPr>
              <a:t>ersebut.</a:t>
            </a:r>
          </a:p>
        </p:txBody>
      </p:sp>
    </p:spTree>
  </p:cSld>
  <p:clrMapOvr>
    <a:masterClrMapping/>
  </p:clrMapOvr>
  <p:transition spd="slow">
    <p:cover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62826" y="400685"/>
            <a:ext cx="17199081" cy="9661988"/>
            <a:chOff x="0" y="0"/>
            <a:chExt cx="4529799" cy="2544721"/>
          </a:xfrm>
        </p:grpSpPr>
        <p:sp>
          <p:nvSpPr>
            <p:cNvPr name="Freeform 4" id="4"/>
            <p:cNvSpPr/>
            <p:nvPr/>
          </p:nvSpPr>
          <p:spPr>
            <a:xfrm flipH="false" flipV="false" rot="0">
              <a:off x="0" y="0"/>
              <a:ext cx="4529799" cy="2544721"/>
            </a:xfrm>
            <a:custGeom>
              <a:avLst/>
              <a:gdLst/>
              <a:ahLst/>
              <a:cxnLst/>
              <a:rect r="r" b="b" t="t" l="l"/>
              <a:pathLst>
                <a:path h="2544721" w="4529799">
                  <a:moveTo>
                    <a:pt x="22957" y="0"/>
                  </a:moveTo>
                  <a:lnTo>
                    <a:pt x="4506842" y="0"/>
                  </a:lnTo>
                  <a:cubicBezTo>
                    <a:pt x="4512931" y="0"/>
                    <a:pt x="4518770" y="2419"/>
                    <a:pt x="4523075" y="6724"/>
                  </a:cubicBezTo>
                  <a:cubicBezTo>
                    <a:pt x="4527380" y="11029"/>
                    <a:pt x="4529799" y="16868"/>
                    <a:pt x="4529799" y="22957"/>
                  </a:cubicBezTo>
                  <a:lnTo>
                    <a:pt x="4529799" y="2521764"/>
                  </a:lnTo>
                  <a:cubicBezTo>
                    <a:pt x="4529799" y="2527853"/>
                    <a:pt x="4527380" y="2533692"/>
                    <a:pt x="4523075" y="2537997"/>
                  </a:cubicBezTo>
                  <a:cubicBezTo>
                    <a:pt x="4518770" y="2542302"/>
                    <a:pt x="4512931" y="2544721"/>
                    <a:pt x="4506842" y="2544721"/>
                  </a:cubicBezTo>
                  <a:lnTo>
                    <a:pt x="22957" y="2544721"/>
                  </a:lnTo>
                  <a:cubicBezTo>
                    <a:pt x="16868" y="2544721"/>
                    <a:pt x="11029" y="2542302"/>
                    <a:pt x="6724" y="2537997"/>
                  </a:cubicBezTo>
                  <a:cubicBezTo>
                    <a:pt x="2419" y="2533692"/>
                    <a:pt x="0" y="2527853"/>
                    <a:pt x="0" y="2521764"/>
                  </a:cubicBezTo>
                  <a:lnTo>
                    <a:pt x="0" y="22957"/>
                  </a:lnTo>
                  <a:cubicBezTo>
                    <a:pt x="0" y="16868"/>
                    <a:pt x="2419" y="11029"/>
                    <a:pt x="6724" y="6724"/>
                  </a:cubicBezTo>
                  <a:cubicBezTo>
                    <a:pt x="11029" y="2419"/>
                    <a:pt x="16868" y="0"/>
                    <a:pt x="22957" y="0"/>
                  </a:cubicBezTo>
                  <a:close/>
                </a:path>
              </a:pathLst>
            </a:custGeom>
            <a:solidFill>
              <a:srgbClr val="C7DEEB">
                <a:alpha val="89804"/>
              </a:srgbClr>
            </a:solidFill>
          </p:spPr>
        </p:sp>
        <p:sp>
          <p:nvSpPr>
            <p:cNvPr name="TextBox 5" id="5"/>
            <p:cNvSpPr txBox="true"/>
            <p:nvPr/>
          </p:nvSpPr>
          <p:spPr>
            <a:xfrm>
              <a:off x="0" y="-38100"/>
              <a:ext cx="4529799" cy="258282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162367" y="76888"/>
            <a:ext cx="9521055" cy="1012448"/>
            <a:chOff x="0" y="0"/>
            <a:chExt cx="2507603" cy="266653"/>
          </a:xfrm>
        </p:grpSpPr>
        <p:sp>
          <p:nvSpPr>
            <p:cNvPr name="Freeform 7" id="7"/>
            <p:cNvSpPr/>
            <p:nvPr/>
          </p:nvSpPr>
          <p:spPr>
            <a:xfrm flipH="false" flipV="false" rot="0">
              <a:off x="0" y="0"/>
              <a:ext cx="2507603" cy="266653"/>
            </a:xfrm>
            <a:custGeom>
              <a:avLst/>
              <a:gdLst/>
              <a:ahLst/>
              <a:cxnLst/>
              <a:rect r="r" b="b" t="t" l="l"/>
              <a:pathLst>
                <a:path h="266653" w="2507603">
                  <a:moveTo>
                    <a:pt x="41470" y="0"/>
                  </a:moveTo>
                  <a:lnTo>
                    <a:pt x="2466133" y="0"/>
                  </a:lnTo>
                  <a:cubicBezTo>
                    <a:pt x="2477132" y="0"/>
                    <a:pt x="2487680" y="4369"/>
                    <a:pt x="2495457" y="12146"/>
                  </a:cubicBezTo>
                  <a:cubicBezTo>
                    <a:pt x="2503234" y="19923"/>
                    <a:pt x="2507603" y="30471"/>
                    <a:pt x="2507603" y="41470"/>
                  </a:cubicBezTo>
                  <a:lnTo>
                    <a:pt x="2507603" y="225183"/>
                  </a:lnTo>
                  <a:cubicBezTo>
                    <a:pt x="2507603" y="236181"/>
                    <a:pt x="2503234" y="246730"/>
                    <a:pt x="2495457" y="254507"/>
                  </a:cubicBezTo>
                  <a:cubicBezTo>
                    <a:pt x="2487680" y="262284"/>
                    <a:pt x="2477132" y="266653"/>
                    <a:pt x="2466133" y="266653"/>
                  </a:cubicBezTo>
                  <a:lnTo>
                    <a:pt x="41470" y="266653"/>
                  </a:lnTo>
                  <a:cubicBezTo>
                    <a:pt x="30471" y="266653"/>
                    <a:pt x="19923" y="262284"/>
                    <a:pt x="12146" y="254507"/>
                  </a:cubicBezTo>
                  <a:cubicBezTo>
                    <a:pt x="4369" y="246730"/>
                    <a:pt x="0" y="236181"/>
                    <a:pt x="0" y="225183"/>
                  </a:cubicBezTo>
                  <a:lnTo>
                    <a:pt x="0" y="41470"/>
                  </a:lnTo>
                  <a:cubicBezTo>
                    <a:pt x="0" y="30471"/>
                    <a:pt x="4369" y="19923"/>
                    <a:pt x="12146" y="12146"/>
                  </a:cubicBezTo>
                  <a:cubicBezTo>
                    <a:pt x="19923" y="4369"/>
                    <a:pt x="30471" y="0"/>
                    <a:pt x="41470" y="0"/>
                  </a:cubicBezTo>
                  <a:close/>
                </a:path>
              </a:pathLst>
            </a:custGeom>
            <a:solidFill>
              <a:srgbClr val="0D0F68"/>
            </a:solidFill>
          </p:spPr>
        </p:sp>
        <p:sp>
          <p:nvSpPr>
            <p:cNvPr name="TextBox 8" id="8"/>
            <p:cNvSpPr txBox="true"/>
            <p:nvPr/>
          </p:nvSpPr>
          <p:spPr>
            <a:xfrm>
              <a:off x="0" y="-38100"/>
              <a:ext cx="2507603" cy="304753"/>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4266869" y="1390935"/>
            <a:ext cx="9790996" cy="6046943"/>
          </a:xfrm>
          <a:custGeom>
            <a:avLst/>
            <a:gdLst/>
            <a:ahLst/>
            <a:cxnLst/>
            <a:rect r="r" b="b" t="t" l="l"/>
            <a:pathLst>
              <a:path h="6046943" w="9790996">
                <a:moveTo>
                  <a:pt x="0" y="0"/>
                </a:moveTo>
                <a:lnTo>
                  <a:pt x="9790996" y="0"/>
                </a:lnTo>
                <a:lnTo>
                  <a:pt x="9790996" y="6046943"/>
                </a:lnTo>
                <a:lnTo>
                  <a:pt x="0" y="6046943"/>
                </a:lnTo>
                <a:lnTo>
                  <a:pt x="0" y="0"/>
                </a:lnTo>
                <a:close/>
              </a:path>
            </a:pathLst>
          </a:custGeom>
          <a:blipFill>
            <a:blip r:embed="rId3"/>
            <a:stretch>
              <a:fillRect l="0" t="0" r="0" b="0"/>
            </a:stretch>
          </a:blipFill>
        </p:spPr>
      </p:sp>
      <p:sp>
        <p:nvSpPr>
          <p:cNvPr name="TextBox 10" id="10"/>
          <p:cNvSpPr txBox="true"/>
          <p:nvPr/>
        </p:nvSpPr>
        <p:spPr>
          <a:xfrm rot="0">
            <a:off x="9596964" y="243070"/>
            <a:ext cx="8691036" cy="613410"/>
          </a:xfrm>
          <a:prstGeom prst="rect">
            <a:avLst/>
          </a:prstGeom>
        </p:spPr>
        <p:txBody>
          <a:bodyPr anchor="t" rtlCol="false" tIns="0" lIns="0" bIns="0" rIns="0">
            <a:spAutoFit/>
          </a:bodyPr>
          <a:lstStyle/>
          <a:p>
            <a:pPr algn="ctr">
              <a:lnSpc>
                <a:spcPts val="5040"/>
              </a:lnSpc>
            </a:pPr>
            <a:r>
              <a:rPr lang="en-US" b="true" sz="3600">
                <a:solidFill>
                  <a:srgbClr val="FBFBFB"/>
                </a:solidFill>
                <a:latin typeface="Garet Bold"/>
                <a:ea typeface="Garet Bold"/>
                <a:cs typeface="Garet Bold"/>
                <a:sym typeface="Garet Bold"/>
              </a:rPr>
              <a:t>Margin of Error Variabel Utama</a:t>
            </a:r>
          </a:p>
        </p:txBody>
      </p:sp>
      <p:sp>
        <p:nvSpPr>
          <p:cNvPr name="TextBox 11" id="11"/>
          <p:cNvSpPr txBox="true"/>
          <p:nvPr/>
        </p:nvSpPr>
        <p:spPr>
          <a:xfrm rot="0">
            <a:off x="1028700" y="7691852"/>
            <a:ext cx="16230600" cy="2031365"/>
          </a:xfrm>
          <a:prstGeom prst="rect">
            <a:avLst/>
          </a:prstGeom>
        </p:spPr>
        <p:txBody>
          <a:bodyPr anchor="t" rtlCol="false" tIns="0" lIns="0" bIns="0" rIns="0">
            <a:spAutoFit/>
          </a:bodyPr>
          <a:lstStyle/>
          <a:p>
            <a:pPr algn="l">
              <a:lnSpc>
                <a:spcPts val="4060"/>
              </a:lnSpc>
            </a:pPr>
            <a:r>
              <a:rPr lang="en-US" sz="2900">
                <a:solidFill>
                  <a:srgbClr val="000000"/>
                </a:solidFill>
                <a:latin typeface="Garet"/>
                <a:ea typeface="Garet"/>
                <a:cs typeface="Garet"/>
                <a:sym typeface="Garet"/>
              </a:rPr>
              <a:t>Grafik menunjukka</a:t>
            </a:r>
            <a:r>
              <a:rPr lang="en-US" sz="2900">
                <a:solidFill>
                  <a:srgbClr val="000000"/>
                </a:solidFill>
                <a:latin typeface="Garet"/>
                <a:ea typeface="Garet"/>
                <a:cs typeface="Garet"/>
                <a:sym typeface="Garet"/>
              </a:rPr>
              <a:t>n estimasi proporsi populasi beserta margin of error pada setiap variabel. Proporsi tertinggi terdapat pada penggunaan gadget lebih dari 3 jam, sedangkan proporsi terendah terdapat pada kebiasaan sering begadang. Garis horizontal menunjukkan rentang interval kepercayaan da</a:t>
            </a:r>
            <a:r>
              <a:rPr lang="en-US" sz="2900">
                <a:solidFill>
                  <a:srgbClr val="000000"/>
                </a:solidFill>
                <a:latin typeface="Garet"/>
                <a:ea typeface="Garet"/>
                <a:cs typeface="Garet"/>
                <a:sym typeface="Garet"/>
              </a:rPr>
              <a:t>ri masing-masing propo</a:t>
            </a:r>
            <a:r>
              <a:rPr lang="en-US" sz="2900">
                <a:solidFill>
                  <a:srgbClr val="000000"/>
                </a:solidFill>
                <a:latin typeface="Garet"/>
                <a:ea typeface="Garet"/>
                <a:cs typeface="Garet"/>
                <a:sym typeface="Garet"/>
              </a:rPr>
              <a:t>rsi.</a:t>
            </a:r>
          </a:p>
        </p:txBody>
      </p:sp>
    </p:spTree>
  </p:cSld>
  <p:clrMapOvr>
    <a:masterClrMapping/>
  </p:clrMapOvr>
  <p:transition spd="slow">
    <p:cover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755107" y="685800"/>
            <a:ext cx="16750427" cy="8982890"/>
            <a:chOff x="0" y="0"/>
            <a:chExt cx="4411635" cy="2365864"/>
          </a:xfrm>
        </p:grpSpPr>
        <p:sp>
          <p:nvSpPr>
            <p:cNvPr name="Freeform 4" id="4"/>
            <p:cNvSpPr/>
            <p:nvPr/>
          </p:nvSpPr>
          <p:spPr>
            <a:xfrm flipH="false" flipV="false" rot="0">
              <a:off x="0" y="0"/>
              <a:ext cx="4411635" cy="2365864"/>
            </a:xfrm>
            <a:custGeom>
              <a:avLst/>
              <a:gdLst/>
              <a:ahLst/>
              <a:cxnLst/>
              <a:rect r="r" b="b" t="t" l="l"/>
              <a:pathLst>
                <a:path h="2365864" w="4411635">
                  <a:moveTo>
                    <a:pt x="23572" y="0"/>
                  </a:moveTo>
                  <a:lnTo>
                    <a:pt x="4388063" y="0"/>
                  </a:lnTo>
                  <a:cubicBezTo>
                    <a:pt x="4394315" y="0"/>
                    <a:pt x="4400310" y="2483"/>
                    <a:pt x="4404731" y="6904"/>
                  </a:cubicBezTo>
                  <a:cubicBezTo>
                    <a:pt x="4409151" y="11325"/>
                    <a:pt x="4411635" y="17320"/>
                    <a:pt x="4411635" y="23572"/>
                  </a:cubicBezTo>
                  <a:lnTo>
                    <a:pt x="4411635" y="2342292"/>
                  </a:lnTo>
                  <a:cubicBezTo>
                    <a:pt x="4411635" y="2348544"/>
                    <a:pt x="4409151" y="2354539"/>
                    <a:pt x="4404731" y="2358960"/>
                  </a:cubicBezTo>
                  <a:cubicBezTo>
                    <a:pt x="4400310" y="2363381"/>
                    <a:pt x="4394315" y="2365864"/>
                    <a:pt x="4388063" y="2365864"/>
                  </a:cubicBezTo>
                  <a:lnTo>
                    <a:pt x="23572" y="2365864"/>
                  </a:lnTo>
                  <a:cubicBezTo>
                    <a:pt x="17320" y="2365864"/>
                    <a:pt x="11325" y="2363381"/>
                    <a:pt x="6904" y="2358960"/>
                  </a:cubicBezTo>
                  <a:cubicBezTo>
                    <a:pt x="2483" y="2354539"/>
                    <a:pt x="0" y="2348544"/>
                    <a:pt x="0" y="2342292"/>
                  </a:cubicBezTo>
                  <a:lnTo>
                    <a:pt x="0" y="23572"/>
                  </a:lnTo>
                  <a:cubicBezTo>
                    <a:pt x="0" y="17320"/>
                    <a:pt x="2483" y="11325"/>
                    <a:pt x="6904" y="6904"/>
                  </a:cubicBezTo>
                  <a:cubicBezTo>
                    <a:pt x="11325" y="2483"/>
                    <a:pt x="17320" y="0"/>
                    <a:pt x="23572" y="0"/>
                  </a:cubicBezTo>
                  <a:close/>
                </a:path>
              </a:pathLst>
            </a:custGeom>
            <a:solidFill>
              <a:srgbClr val="FBFBFB">
                <a:alpha val="89804"/>
              </a:srgbClr>
            </a:solidFill>
          </p:spPr>
        </p:sp>
        <p:sp>
          <p:nvSpPr>
            <p:cNvPr name="TextBox 5" id="5"/>
            <p:cNvSpPr txBox="true"/>
            <p:nvPr/>
          </p:nvSpPr>
          <p:spPr>
            <a:xfrm>
              <a:off x="0" y="-38100"/>
              <a:ext cx="4411635" cy="240396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519768" y="76888"/>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62530" y="1687168"/>
            <a:ext cx="14935580" cy="5143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Garet"/>
                <a:ea typeface="Garet"/>
                <a:cs typeface="Garet"/>
                <a:sym typeface="Garet"/>
              </a:rPr>
              <a:t>I</a:t>
            </a:r>
            <a:r>
              <a:rPr lang="en-US" sz="3000">
                <a:solidFill>
                  <a:srgbClr val="000000"/>
                </a:solidFill>
                <a:latin typeface="Garet"/>
                <a:ea typeface="Garet"/>
                <a:cs typeface="Garet"/>
                <a:sym typeface="Garet"/>
              </a:rPr>
              <a:t>dentitas: Nama (Opsional), Jenis Kelamin, Program Studi.</a:t>
            </a:r>
          </a:p>
        </p:txBody>
      </p:sp>
      <p:sp>
        <p:nvSpPr>
          <p:cNvPr name="TextBox 10" id="10"/>
          <p:cNvSpPr txBox="true"/>
          <p:nvPr/>
        </p:nvSpPr>
        <p:spPr>
          <a:xfrm rot="0">
            <a:off x="587040" y="2288487"/>
            <a:ext cx="8543280" cy="669925"/>
          </a:xfrm>
          <a:prstGeom prst="rect">
            <a:avLst/>
          </a:prstGeom>
        </p:spPr>
        <p:txBody>
          <a:bodyPr anchor="t" rtlCol="false" tIns="0" lIns="0" bIns="0" rIns="0">
            <a:spAutoFit/>
          </a:bodyPr>
          <a:lstStyle/>
          <a:p>
            <a:pPr algn="ctr">
              <a:lnSpc>
                <a:spcPts val="5599"/>
              </a:lnSpc>
            </a:pPr>
            <a:r>
              <a:rPr lang="en-US" b="true" sz="3999">
                <a:solidFill>
                  <a:srgbClr val="0D0F68"/>
                </a:solidFill>
                <a:latin typeface="Garet Bold"/>
                <a:ea typeface="Garet Bold"/>
                <a:cs typeface="Garet Bold"/>
                <a:sym typeface="Garet Bold"/>
              </a:rPr>
              <a:t>b. Variabel Gaya Hidup (X)</a:t>
            </a:r>
          </a:p>
        </p:txBody>
      </p:sp>
      <p:sp>
        <p:nvSpPr>
          <p:cNvPr name="TextBox 11" id="11"/>
          <p:cNvSpPr txBox="true"/>
          <p:nvPr/>
        </p:nvSpPr>
        <p:spPr>
          <a:xfrm rot="0">
            <a:off x="1982997" y="3082237"/>
            <a:ext cx="14935580" cy="6656705"/>
          </a:xfrm>
          <a:prstGeom prst="rect">
            <a:avLst/>
          </a:prstGeom>
        </p:spPr>
        <p:txBody>
          <a:bodyPr anchor="t" rtlCol="false" tIns="0" lIns="0" bIns="0" rIns="0">
            <a:spAutoFit/>
          </a:bodyPr>
          <a:lstStyle/>
          <a:p>
            <a:pPr algn="l">
              <a:lnSpc>
                <a:spcPts val="3360"/>
              </a:lnSpc>
            </a:pPr>
            <a:r>
              <a:rPr lang="en-US" sz="2400">
                <a:solidFill>
                  <a:srgbClr val="000000"/>
                </a:solidFill>
                <a:latin typeface="Garet"/>
                <a:ea typeface="Garet"/>
                <a:cs typeface="Garet"/>
                <a:sym typeface="Garet"/>
              </a:rPr>
              <a:t>Terdiri dari 10 butir pernyataan yang dibagi menjadi 4 indikator utama:</a:t>
            </a:r>
          </a:p>
          <a:p>
            <a:pPr algn="l" marL="518163" indent="-259082" lvl="1">
              <a:lnSpc>
                <a:spcPts val="3360"/>
              </a:lnSpc>
              <a:buAutoNum type="arabicPeriod" startAt="1"/>
            </a:pPr>
            <a:r>
              <a:rPr lang="en-US" b="true" sz="2400">
                <a:solidFill>
                  <a:srgbClr val="000000"/>
                </a:solidFill>
                <a:latin typeface="Garet Bold"/>
                <a:ea typeface="Garet Bold"/>
                <a:cs typeface="Garet Bold"/>
                <a:sym typeface="Garet Bold"/>
              </a:rPr>
              <a:t>Pola Tidur &amp; Istirahat:</a:t>
            </a:r>
          </a:p>
          <a:p>
            <a:pPr algn="l" marL="1036326" indent="-345442" lvl="2">
              <a:lnSpc>
                <a:spcPts val="3360"/>
              </a:lnSpc>
              <a:buFont typeface="Arial"/>
              <a:buChar char="⚬"/>
            </a:pPr>
            <a:r>
              <a:rPr lang="en-US" sz="2400">
                <a:solidFill>
                  <a:srgbClr val="000000"/>
                </a:solidFill>
                <a:latin typeface="Garet"/>
                <a:ea typeface="Garet"/>
                <a:cs typeface="Garet"/>
                <a:sym typeface="Garet"/>
              </a:rPr>
              <a:t>Durasi tidur harian (7–8 jam).</a:t>
            </a:r>
          </a:p>
          <a:p>
            <a:pPr algn="l" marL="1036326" indent="-345442" lvl="2">
              <a:lnSpc>
                <a:spcPts val="3360"/>
              </a:lnSpc>
              <a:buFont typeface="Arial"/>
              <a:buChar char="⚬"/>
            </a:pPr>
            <a:r>
              <a:rPr lang="en-US" sz="2400">
                <a:solidFill>
                  <a:srgbClr val="000000"/>
                </a:solidFill>
                <a:latin typeface="Garet"/>
                <a:ea typeface="Garet"/>
                <a:cs typeface="Garet"/>
                <a:sym typeface="Garet"/>
              </a:rPr>
              <a:t>Kualitas istirahat (Rasa kantuk di kelas).</a:t>
            </a:r>
          </a:p>
          <a:p>
            <a:pPr algn="l" marL="1036326" indent="-345442" lvl="2">
              <a:lnSpc>
                <a:spcPts val="3360"/>
              </a:lnSpc>
              <a:buFont typeface="Arial"/>
              <a:buChar char="⚬"/>
            </a:pPr>
            <a:r>
              <a:rPr lang="en-US" sz="2400">
                <a:solidFill>
                  <a:srgbClr val="000000"/>
                </a:solidFill>
                <a:latin typeface="Garet"/>
                <a:ea typeface="Garet"/>
                <a:cs typeface="Garet"/>
                <a:sym typeface="Garet"/>
              </a:rPr>
              <a:t>Kebiasaan begadang untuk hal non-akademik.</a:t>
            </a:r>
          </a:p>
          <a:p>
            <a:pPr algn="l" marL="518163" indent="-259082" lvl="1">
              <a:lnSpc>
                <a:spcPts val="3360"/>
              </a:lnSpc>
              <a:buAutoNum type="arabicPeriod" startAt="1"/>
            </a:pPr>
            <a:r>
              <a:rPr lang="en-US" b="true" sz="2400">
                <a:solidFill>
                  <a:srgbClr val="000000"/>
                </a:solidFill>
                <a:latin typeface="Garet Bold"/>
                <a:ea typeface="Garet Bold"/>
                <a:cs typeface="Garet Bold"/>
                <a:sym typeface="Garet Bold"/>
              </a:rPr>
              <a:t>Manajemen Gadget:</a:t>
            </a:r>
          </a:p>
          <a:p>
            <a:pPr algn="l" marL="1036326" indent="-345442" lvl="2">
              <a:lnSpc>
                <a:spcPts val="3360"/>
              </a:lnSpc>
              <a:buFont typeface="Arial"/>
              <a:buChar char="⚬"/>
            </a:pPr>
            <a:r>
              <a:rPr lang="en-US" sz="2400">
                <a:solidFill>
                  <a:srgbClr val="000000"/>
                </a:solidFill>
                <a:latin typeface="Garet"/>
                <a:ea typeface="Garet"/>
                <a:cs typeface="Garet"/>
                <a:sym typeface="Garet"/>
              </a:rPr>
              <a:t>Tingkat distraksi gadget saat belajar.</a:t>
            </a:r>
          </a:p>
          <a:p>
            <a:pPr algn="l" marL="1036326" indent="-345442" lvl="2">
              <a:lnSpc>
                <a:spcPts val="3360"/>
              </a:lnSpc>
              <a:buFont typeface="Arial"/>
              <a:buChar char="⚬"/>
            </a:pPr>
            <a:r>
              <a:rPr lang="en-US" sz="2400">
                <a:solidFill>
                  <a:srgbClr val="000000"/>
                </a:solidFill>
                <a:latin typeface="Garet"/>
                <a:ea typeface="Garet"/>
                <a:cs typeface="Garet"/>
                <a:sym typeface="Garet"/>
              </a:rPr>
              <a:t>Kemampuan kontrol penggunaan gadget.</a:t>
            </a:r>
          </a:p>
          <a:p>
            <a:pPr algn="l" marL="1036326" indent="-345442" lvl="2">
              <a:lnSpc>
                <a:spcPts val="3360"/>
              </a:lnSpc>
              <a:buFont typeface="Arial"/>
              <a:buChar char="⚬"/>
            </a:pPr>
            <a:r>
              <a:rPr lang="en-US" sz="2400">
                <a:solidFill>
                  <a:srgbClr val="000000"/>
                </a:solidFill>
                <a:latin typeface="Garet"/>
                <a:ea typeface="Garet"/>
                <a:cs typeface="Garet"/>
                <a:sym typeface="Garet"/>
              </a:rPr>
              <a:t>Durasi penggunaan gadget harian (&gt;3 jam).</a:t>
            </a:r>
          </a:p>
          <a:p>
            <a:pPr algn="l" marL="518163" indent="-259082" lvl="1">
              <a:lnSpc>
                <a:spcPts val="3360"/>
              </a:lnSpc>
              <a:buAutoNum type="arabicPeriod" startAt="1"/>
            </a:pPr>
            <a:r>
              <a:rPr lang="en-US" b="true" sz="2400">
                <a:solidFill>
                  <a:srgbClr val="000000"/>
                </a:solidFill>
                <a:latin typeface="Garet Bold"/>
                <a:ea typeface="Garet Bold"/>
                <a:cs typeface="Garet Bold"/>
                <a:sym typeface="Garet Bold"/>
              </a:rPr>
              <a:t>Aktivitas Fisik:</a:t>
            </a:r>
          </a:p>
          <a:p>
            <a:pPr algn="l" marL="1036326" indent="-345442" lvl="2">
              <a:lnSpc>
                <a:spcPts val="3360"/>
              </a:lnSpc>
              <a:buFont typeface="Arial"/>
              <a:buChar char="⚬"/>
            </a:pPr>
            <a:r>
              <a:rPr lang="en-US" sz="2400">
                <a:solidFill>
                  <a:srgbClr val="000000"/>
                </a:solidFill>
                <a:latin typeface="Garet"/>
                <a:ea typeface="Garet"/>
                <a:cs typeface="Garet"/>
                <a:sym typeface="Garet"/>
              </a:rPr>
              <a:t>Frekuensi olahraga mingguan.</a:t>
            </a:r>
          </a:p>
          <a:p>
            <a:pPr algn="l" marL="1036326" indent="-345442" lvl="2">
              <a:lnSpc>
                <a:spcPts val="3360"/>
              </a:lnSpc>
              <a:buFont typeface="Arial"/>
              <a:buChar char="⚬"/>
            </a:pPr>
            <a:r>
              <a:rPr lang="en-US" sz="2400">
                <a:solidFill>
                  <a:srgbClr val="000000"/>
                </a:solidFill>
                <a:latin typeface="Garet"/>
                <a:ea typeface="Garet"/>
                <a:cs typeface="Garet"/>
                <a:sym typeface="Garet"/>
              </a:rPr>
              <a:t>Alokasi waktu khusus untuk aktivitas fisik.</a:t>
            </a:r>
          </a:p>
          <a:p>
            <a:pPr algn="l" marL="518163" indent="-259082" lvl="1">
              <a:lnSpc>
                <a:spcPts val="3360"/>
              </a:lnSpc>
              <a:buAutoNum type="arabicPeriod" startAt="1"/>
            </a:pPr>
            <a:r>
              <a:rPr lang="en-US" b="true" sz="2400">
                <a:solidFill>
                  <a:srgbClr val="000000"/>
                </a:solidFill>
                <a:latin typeface="Garet Bold"/>
                <a:ea typeface="Garet Bold"/>
                <a:cs typeface="Garet Bold"/>
                <a:sym typeface="Garet Bold"/>
              </a:rPr>
              <a:t>Manajemen Waktu (Habit):</a:t>
            </a:r>
          </a:p>
          <a:p>
            <a:pPr algn="l" marL="1036326" indent="-345442" lvl="2">
              <a:lnSpc>
                <a:spcPts val="3360"/>
              </a:lnSpc>
              <a:buFont typeface="Arial"/>
              <a:buChar char="⚬"/>
            </a:pPr>
            <a:r>
              <a:rPr lang="en-US" sz="2400">
                <a:solidFill>
                  <a:srgbClr val="000000"/>
                </a:solidFill>
                <a:latin typeface="Garet"/>
                <a:ea typeface="Garet"/>
                <a:cs typeface="Garet"/>
                <a:sym typeface="Garet"/>
              </a:rPr>
              <a:t>Kebiasaan menunda tugas (Procrastination).</a:t>
            </a:r>
          </a:p>
          <a:p>
            <a:pPr algn="l" marL="1036326" indent="-345442" lvl="2">
              <a:lnSpc>
                <a:spcPts val="3360"/>
              </a:lnSpc>
              <a:buFont typeface="Arial"/>
              <a:buChar char="⚬"/>
            </a:pPr>
            <a:r>
              <a:rPr lang="en-US" sz="2400">
                <a:solidFill>
                  <a:srgbClr val="000000"/>
                </a:solidFill>
                <a:latin typeface="Garet"/>
                <a:ea typeface="Garet"/>
                <a:cs typeface="Garet"/>
                <a:sym typeface="Garet"/>
              </a:rPr>
              <a:t>Ketepatan waktu dalam mengumpulkan tugas.</a:t>
            </a:r>
          </a:p>
          <a:p>
            <a:pPr algn="l">
              <a:lnSpc>
                <a:spcPts val="3080"/>
              </a:lnSpc>
            </a:pPr>
          </a:p>
        </p:txBody>
      </p:sp>
      <p:sp>
        <p:nvSpPr>
          <p:cNvPr name="TextBox 12" id="12"/>
          <p:cNvSpPr txBox="true"/>
          <p:nvPr/>
        </p:nvSpPr>
        <p:spPr>
          <a:xfrm rot="0">
            <a:off x="11153710" y="317500"/>
            <a:ext cx="7895771" cy="669925"/>
          </a:xfrm>
          <a:prstGeom prst="rect">
            <a:avLst/>
          </a:prstGeom>
        </p:spPr>
        <p:txBody>
          <a:bodyPr anchor="t" rtlCol="false" tIns="0" lIns="0" bIns="0" rIns="0">
            <a:spAutoFit/>
          </a:bodyPr>
          <a:lstStyle/>
          <a:p>
            <a:pPr algn="ctr">
              <a:lnSpc>
                <a:spcPts val="5599"/>
              </a:lnSpc>
            </a:pPr>
            <a:r>
              <a:rPr lang="en-US" b="true" sz="3999">
                <a:solidFill>
                  <a:srgbClr val="FBFBFB"/>
                </a:solidFill>
                <a:latin typeface="Garet Bold"/>
                <a:ea typeface="Garet Bold"/>
                <a:cs typeface="Garet Bold"/>
                <a:sym typeface="Garet Bold"/>
              </a:rPr>
              <a:t>Struktur Kuesioner</a:t>
            </a:r>
          </a:p>
        </p:txBody>
      </p:sp>
      <p:sp>
        <p:nvSpPr>
          <p:cNvPr name="TextBox 13" id="13"/>
          <p:cNvSpPr txBox="true"/>
          <p:nvPr/>
        </p:nvSpPr>
        <p:spPr>
          <a:xfrm rot="0">
            <a:off x="216159" y="920750"/>
            <a:ext cx="8543280" cy="669925"/>
          </a:xfrm>
          <a:prstGeom prst="rect">
            <a:avLst/>
          </a:prstGeom>
        </p:spPr>
        <p:txBody>
          <a:bodyPr anchor="t" rtlCol="false" tIns="0" lIns="0" bIns="0" rIns="0">
            <a:spAutoFit/>
          </a:bodyPr>
          <a:lstStyle/>
          <a:p>
            <a:pPr algn="ctr">
              <a:lnSpc>
                <a:spcPts val="5599"/>
              </a:lnSpc>
            </a:pPr>
            <a:r>
              <a:rPr lang="en-US" b="true" sz="3999">
                <a:solidFill>
                  <a:srgbClr val="0D0F68"/>
                </a:solidFill>
                <a:latin typeface="Garet Bold"/>
                <a:ea typeface="Garet Bold"/>
                <a:cs typeface="Garet Bold"/>
                <a:sym typeface="Garet Bold"/>
              </a:rPr>
              <a:t>a. Identitas Responden</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755107" y="685800"/>
            <a:ext cx="16750427" cy="8982890"/>
            <a:chOff x="0" y="0"/>
            <a:chExt cx="4411635" cy="2365864"/>
          </a:xfrm>
        </p:grpSpPr>
        <p:sp>
          <p:nvSpPr>
            <p:cNvPr name="Freeform 4" id="4"/>
            <p:cNvSpPr/>
            <p:nvPr/>
          </p:nvSpPr>
          <p:spPr>
            <a:xfrm flipH="false" flipV="false" rot="0">
              <a:off x="0" y="0"/>
              <a:ext cx="4411635" cy="2365864"/>
            </a:xfrm>
            <a:custGeom>
              <a:avLst/>
              <a:gdLst/>
              <a:ahLst/>
              <a:cxnLst/>
              <a:rect r="r" b="b" t="t" l="l"/>
              <a:pathLst>
                <a:path h="2365864" w="4411635">
                  <a:moveTo>
                    <a:pt x="23572" y="0"/>
                  </a:moveTo>
                  <a:lnTo>
                    <a:pt x="4388063" y="0"/>
                  </a:lnTo>
                  <a:cubicBezTo>
                    <a:pt x="4394315" y="0"/>
                    <a:pt x="4400310" y="2483"/>
                    <a:pt x="4404731" y="6904"/>
                  </a:cubicBezTo>
                  <a:cubicBezTo>
                    <a:pt x="4409151" y="11325"/>
                    <a:pt x="4411635" y="17320"/>
                    <a:pt x="4411635" y="23572"/>
                  </a:cubicBezTo>
                  <a:lnTo>
                    <a:pt x="4411635" y="2342292"/>
                  </a:lnTo>
                  <a:cubicBezTo>
                    <a:pt x="4411635" y="2348544"/>
                    <a:pt x="4409151" y="2354539"/>
                    <a:pt x="4404731" y="2358960"/>
                  </a:cubicBezTo>
                  <a:cubicBezTo>
                    <a:pt x="4400310" y="2363381"/>
                    <a:pt x="4394315" y="2365864"/>
                    <a:pt x="4388063" y="2365864"/>
                  </a:cubicBezTo>
                  <a:lnTo>
                    <a:pt x="23572" y="2365864"/>
                  </a:lnTo>
                  <a:cubicBezTo>
                    <a:pt x="17320" y="2365864"/>
                    <a:pt x="11325" y="2363381"/>
                    <a:pt x="6904" y="2358960"/>
                  </a:cubicBezTo>
                  <a:cubicBezTo>
                    <a:pt x="2483" y="2354539"/>
                    <a:pt x="0" y="2348544"/>
                    <a:pt x="0" y="2342292"/>
                  </a:cubicBezTo>
                  <a:lnTo>
                    <a:pt x="0" y="23572"/>
                  </a:lnTo>
                  <a:cubicBezTo>
                    <a:pt x="0" y="17320"/>
                    <a:pt x="2483" y="11325"/>
                    <a:pt x="6904" y="6904"/>
                  </a:cubicBezTo>
                  <a:cubicBezTo>
                    <a:pt x="11325" y="2483"/>
                    <a:pt x="17320" y="0"/>
                    <a:pt x="23572" y="0"/>
                  </a:cubicBezTo>
                  <a:close/>
                </a:path>
              </a:pathLst>
            </a:custGeom>
            <a:solidFill>
              <a:srgbClr val="FBFBFB">
                <a:alpha val="89804"/>
              </a:srgbClr>
            </a:solidFill>
          </p:spPr>
        </p:sp>
        <p:sp>
          <p:nvSpPr>
            <p:cNvPr name="TextBox 5" id="5"/>
            <p:cNvSpPr txBox="true"/>
            <p:nvPr/>
          </p:nvSpPr>
          <p:spPr>
            <a:xfrm>
              <a:off x="0" y="-38100"/>
              <a:ext cx="4411635" cy="2403964"/>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17263" y="962025"/>
            <a:ext cx="9747091" cy="580390"/>
          </a:xfrm>
          <a:prstGeom prst="rect">
            <a:avLst/>
          </a:prstGeom>
        </p:spPr>
        <p:txBody>
          <a:bodyPr anchor="t" rtlCol="false" tIns="0" lIns="0" bIns="0" rIns="0">
            <a:spAutoFit/>
          </a:bodyPr>
          <a:lstStyle/>
          <a:p>
            <a:pPr algn="ctr">
              <a:lnSpc>
                <a:spcPts val="4760"/>
              </a:lnSpc>
            </a:pPr>
            <a:r>
              <a:rPr lang="en-US" b="true" sz="3400">
                <a:solidFill>
                  <a:srgbClr val="0D0F68"/>
                </a:solidFill>
                <a:latin typeface="Garet Bold"/>
                <a:ea typeface="Garet Bold"/>
                <a:cs typeface="Garet Bold"/>
                <a:sym typeface="Garet Bold"/>
              </a:rPr>
              <a:t>C. Variabel Kualitas Belajar (Y)</a:t>
            </a:r>
          </a:p>
        </p:txBody>
      </p:sp>
      <p:sp>
        <p:nvSpPr>
          <p:cNvPr name="TextBox 7" id="7"/>
          <p:cNvSpPr txBox="true"/>
          <p:nvPr/>
        </p:nvSpPr>
        <p:spPr>
          <a:xfrm rot="0">
            <a:off x="1676210" y="1747858"/>
            <a:ext cx="14935580" cy="7715250"/>
          </a:xfrm>
          <a:prstGeom prst="rect">
            <a:avLst/>
          </a:prstGeom>
        </p:spPr>
        <p:txBody>
          <a:bodyPr anchor="t" rtlCol="false" tIns="0" lIns="0" bIns="0" rIns="0">
            <a:spAutoFit/>
          </a:bodyPr>
          <a:lstStyle/>
          <a:p>
            <a:pPr algn="l">
              <a:lnSpc>
                <a:spcPts val="4060"/>
              </a:lnSpc>
            </a:pPr>
            <a:r>
              <a:rPr lang="en-US" sz="2900">
                <a:solidFill>
                  <a:srgbClr val="000000"/>
                </a:solidFill>
                <a:latin typeface="Garet"/>
                <a:ea typeface="Garet"/>
                <a:cs typeface="Garet"/>
                <a:sym typeface="Garet"/>
              </a:rPr>
              <a:t>Terdiri dari 10 butir pernyataan yang dibagi menjadi 3 indikator utama:</a:t>
            </a:r>
          </a:p>
          <a:p>
            <a:pPr algn="l" marL="626111" indent="-313055" lvl="1">
              <a:lnSpc>
                <a:spcPts val="4060"/>
              </a:lnSpc>
              <a:buAutoNum type="arabicPeriod" startAt="1"/>
            </a:pPr>
            <a:r>
              <a:rPr lang="en-US" b="true" sz="2900">
                <a:solidFill>
                  <a:srgbClr val="000000"/>
                </a:solidFill>
                <a:latin typeface="Garet Bold"/>
                <a:ea typeface="Garet Bold"/>
                <a:cs typeface="Garet Bold"/>
                <a:sym typeface="Garet Bold"/>
              </a:rPr>
              <a:t>Kemampuan Kognitif &amp; Fokus:</a:t>
            </a:r>
          </a:p>
          <a:p>
            <a:pPr algn="l" marL="1252221" indent="-417407" lvl="2">
              <a:lnSpc>
                <a:spcPts val="4060"/>
              </a:lnSpc>
              <a:buFont typeface="Arial"/>
              <a:buChar char="⚬"/>
            </a:pPr>
            <a:r>
              <a:rPr lang="en-US" sz="2900">
                <a:solidFill>
                  <a:srgbClr val="000000"/>
                </a:solidFill>
                <a:latin typeface="Garet"/>
                <a:ea typeface="Garet"/>
                <a:cs typeface="Garet"/>
                <a:sym typeface="Garet"/>
              </a:rPr>
              <a:t>Daya konsentrasi durasi lama.</a:t>
            </a:r>
          </a:p>
          <a:p>
            <a:pPr algn="l" marL="1252221" indent="-417407" lvl="2">
              <a:lnSpc>
                <a:spcPts val="4060"/>
              </a:lnSpc>
              <a:buFont typeface="Arial"/>
              <a:buChar char="⚬"/>
            </a:pPr>
            <a:r>
              <a:rPr lang="en-US" sz="2900">
                <a:solidFill>
                  <a:srgbClr val="000000"/>
                </a:solidFill>
                <a:latin typeface="Garet"/>
                <a:ea typeface="Garet"/>
                <a:cs typeface="Garet"/>
                <a:sym typeface="Garet"/>
              </a:rPr>
              <a:t>Daya ingat terhadap materi.</a:t>
            </a:r>
          </a:p>
          <a:p>
            <a:pPr algn="l" marL="1252221" indent="-417407" lvl="2">
              <a:lnSpc>
                <a:spcPts val="4060"/>
              </a:lnSpc>
              <a:buFont typeface="Arial"/>
              <a:buChar char="⚬"/>
            </a:pPr>
            <a:r>
              <a:rPr lang="en-US" sz="2900">
                <a:solidFill>
                  <a:srgbClr val="000000"/>
                </a:solidFill>
                <a:latin typeface="Garet"/>
                <a:ea typeface="Garet"/>
                <a:cs typeface="Garet"/>
                <a:sym typeface="Garet"/>
              </a:rPr>
              <a:t>Kemampuan menjelaskan kembali materi.</a:t>
            </a:r>
          </a:p>
          <a:p>
            <a:pPr algn="l" marL="626111" indent="-313055" lvl="1">
              <a:lnSpc>
                <a:spcPts val="4060"/>
              </a:lnSpc>
              <a:buAutoNum type="arabicPeriod" startAt="1"/>
            </a:pPr>
            <a:r>
              <a:rPr lang="en-US" b="true" sz="2900">
                <a:solidFill>
                  <a:srgbClr val="000000"/>
                </a:solidFill>
                <a:latin typeface="Garet Bold"/>
                <a:ea typeface="Garet Bold"/>
                <a:cs typeface="Garet Bold"/>
                <a:sym typeface="Garet Bold"/>
              </a:rPr>
              <a:t>Efektivitas &amp; Perencanaan Belajar:</a:t>
            </a:r>
          </a:p>
          <a:p>
            <a:pPr algn="l" marL="1252221" indent="-417407" lvl="2">
              <a:lnSpc>
                <a:spcPts val="4060"/>
              </a:lnSpc>
              <a:buFont typeface="Arial"/>
              <a:buChar char="⚬"/>
            </a:pPr>
            <a:r>
              <a:rPr lang="en-US" sz="2900">
                <a:solidFill>
                  <a:srgbClr val="000000"/>
                </a:solidFill>
                <a:latin typeface="Garet"/>
                <a:ea typeface="Garet"/>
                <a:cs typeface="Garet"/>
                <a:sym typeface="Garet"/>
              </a:rPr>
              <a:t>Efisiensi penggunaan waktu belajar.</a:t>
            </a:r>
          </a:p>
          <a:p>
            <a:pPr algn="l" marL="1252221" indent="-417407" lvl="2">
              <a:lnSpc>
                <a:spcPts val="4060"/>
              </a:lnSpc>
              <a:buFont typeface="Arial"/>
              <a:buChar char="⚬"/>
            </a:pPr>
            <a:r>
              <a:rPr lang="en-US" sz="2900">
                <a:solidFill>
                  <a:srgbClr val="000000"/>
                </a:solidFill>
                <a:latin typeface="Garet"/>
                <a:ea typeface="Garet"/>
                <a:cs typeface="Garet"/>
                <a:sym typeface="Garet"/>
              </a:rPr>
              <a:t>Konsistensi belajar harian.</a:t>
            </a:r>
          </a:p>
          <a:p>
            <a:pPr algn="l" marL="1252221" indent="-417407" lvl="2">
              <a:lnSpc>
                <a:spcPts val="4060"/>
              </a:lnSpc>
              <a:buFont typeface="Arial"/>
              <a:buChar char="⚬"/>
            </a:pPr>
            <a:r>
              <a:rPr lang="en-US" sz="2900">
                <a:solidFill>
                  <a:srgbClr val="000000"/>
                </a:solidFill>
                <a:latin typeface="Garet"/>
                <a:ea typeface="Garet"/>
                <a:cs typeface="Garet"/>
                <a:sym typeface="Garet"/>
              </a:rPr>
              <a:t>Kemudahan dalam penyelesaian tugas.</a:t>
            </a:r>
          </a:p>
          <a:p>
            <a:pPr algn="l" marL="1252221" indent="-417407" lvl="2">
              <a:lnSpc>
                <a:spcPts val="4060"/>
              </a:lnSpc>
              <a:buFont typeface="Arial"/>
              <a:buChar char="⚬"/>
            </a:pPr>
            <a:r>
              <a:rPr lang="en-US" sz="2900">
                <a:solidFill>
                  <a:srgbClr val="000000"/>
                </a:solidFill>
                <a:latin typeface="Garet"/>
                <a:ea typeface="Garet"/>
                <a:cs typeface="Garet"/>
                <a:sym typeface="Garet"/>
              </a:rPr>
              <a:t>Keterarahan proses belajar (terencana).</a:t>
            </a:r>
          </a:p>
          <a:p>
            <a:pPr algn="l" marL="626111" indent="-313055" lvl="1">
              <a:lnSpc>
                <a:spcPts val="4060"/>
              </a:lnSpc>
              <a:buAutoNum type="arabicPeriod" startAt="1"/>
            </a:pPr>
            <a:r>
              <a:rPr lang="en-US" b="true" sz="2900">
                <a:solidFill>
                  <a:srgbClr val="000000"/>
                </a:solidFill>
                <a:latin typeface="Garet Bold"/>
                <a:ea typeface="Garet Bold"/>
                <a:cs typeface="Garet Bold"/>
                <a:sym typeface="Garet Bold"/>
              </a:rPr>
              <a:t>Partisipasi &amp; Hasil Akademik:</a:t>
            </a:r>
          </a:p>
          <a:p>
            <a:pPr algn="l" marL="1252221" indent="-417407" lvl="2">
              <a:lnSpc>
                <a:spcPts val="4060"/>
              </a:lnSpc>
              <a:buFont typeface="Arial"/>
              <a:buChar char="⚬"/>
            </a:pPr>
            <a:r>
              <a:rPr lang="en-US" sz="2900">
                <a:solidFill>
                  <a:srgbClr val="000000"/>
                </a:solidFill>
                <a:latin typeface="Garet"/>
                <a:ea typeface="Garet"/>
                <a:cs typeface="Garet"/>
                <a:sym typeface="Garet"/>
              </a:rPr>
              <a:t>Keaktifan diskusi di kelas.</a:t>
            </a:r>
          </a:p>
          <a:p>
            <a:pPr algn="l" marL="1252221" indent="-417407" lvl="2">
              <a:lnSpc>
                <a:spcPts val="4060"/>
              </a:lnSpc>
              <a:buFont typeface="Arial"/>
              <a:buChar char="⚬"/>
            </a:pPr>
            <a:r>
              <a:rPr lang="en-US" sz="2900">
                <a:solidFill>
                  <a:srgbClr val="000000"/>
                </a:solidFill>
                <a:latin typeface="Garet"/>
                <a:ea typeface="Garet"/>
                <a:cs typeface="Garet"/>
                <a:sym typeface="Garet"/>
              </a:rPr>
              <a:t>Partisipasi umum dalam perkuliahan.</a:t>
            </a:r>
          </a:p>
          <a:p>
            <a:pPr algn="l" marL="1252221" indent="-417407" lvl="2">
              <a:lnSpc>
                <a:spcPts val="4060"/>
              </a:lnSpc>
              <a:buFont typeface="Arial"/>
              <a:buChar char="⚬"/>
            </a:pPr>
            <a:r>
              <a:rPr lang="en-US" sz="2900">
                <a:solidFill>
                  <a:srgbClr val="000000"/>
                </a:solidFill>
                <a:latin typeface="Garet"/>
                <a:ea typeface="Garet"/>
                <a:cs typeface="Garet"/>
                <a:sym typeface="Garet"/>
              </a:rPr>
              <a:t>Kepuasan antara hasil belajar dengan usaha.</a:t>
            </a:r>
          </a:p>
          <a:p>
            <a:pPr algn="l">
              <a:lnSpc>
                <a:spcPts val="4339"/>
              </a:lnSpc>
            </a:pP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755107" y="685800"/>
            <a:ext cx="16750427" cy="8982890"/>
            <a:chOff x="0" y="0"/>
            <a:chExt cx="4411635" cy="2365864"/>
          </a:xfrm>
        </p:grpSpPr>
        <p:sp>
          <p:nvSpPr>
            <p:cNvPr name="Freeform 4" id="4"/>
            <p:cNvSpPr/>
            <p:nvPr/>
          </p:nvSpPr>
          <p:spPr>
            <a:xfrm flipH="false" flipV="false" rot="0">
              <a:off x="0" y="0"/>
              <a:ext cx="4411635" cy="2365864"/>
            </a:xfrm>
            <a:custGeom>
              <a:avLst/>
              <a:gdLst/>
              <a:ahLst/>
              <a:cxnLst/>
              <a:rect r="r" b="b" t="t" l="l"/>
              <a:pathLst>
                <a:path h="2365864" w="4411635">
                  <a:moveTo>
                    <a:pt x="23572" y="0"/>
                  </a:moveTo>
                  <a:lnTo>
                    <a:pt x="4388063" y="0"/>
                  </a:lnTo>
                  <a:cubicBezTo>
                    <a:pt x="4394315" y="0"/>
                    <a:pt x="4400310" y="2483"/>
                    <a:pt x="4404731" y="6904"/>
                  </a:cubicBezTo>
                  <a:cubicBezTo>
                    <a:pt x="4409151" y="11325"/>
                    <a:pt x="4411635" y="17320"/>
                    <a:pt x="4411635" y="23572"/>
                  </a:cubicBezTo>
                  <a:lnTo>
                    <a:pt x="4411635" y="2342292"/>
                  </a:lnTo>
                  <a:cubicBezTo>
                    <a:pt x="4411635" y="2348544"/>
                    <a:pt x="4409151" y="2354539"/>
                    <a:pt x="4404731" y="2358960"/>
                  </a:cubicBezTo>
                  <a:cubicBezTo>
                    <a:pt x="4400310" y="2363381"/>
                    <a:pt x="4394315" y="2365864"/>
                    <a:pt x="4388063" y="2365864"/>
                  </a:cubicBezTo>
                  <a:lnTo>
                    <a:pt x="23572" y="2365864"/>
                  </a:lnTo>
                  <a:cubicBezTo>
                    <a:pt x="17320" y="2365864"/>
                    <a:pt x="11325" y="2363381"/>
                    <a:pt x="6904" y="2358960"/>
                  </a:cubicBezTo>
                  <a:cubicBezTo>
                    <a:pt x="2483" y="2354539"/>
                    <a:pt x="0" y="2348544"/>
                    <a:pt x="0" y="2342292"/>
                  </a:cubicBezTo>
                  <a:lnTo>
                    <a:pt x="0" y="23572"/>
                  </a:lnTo>
                  <a:cubicBezTo>
                    <a:pt x="0" y="17320"/>
                    <a:pt x="2483" y="11325"/>
                    <a:pt x="6904" y="6904"/>
                  </a:cubicBezTo>
                  <a:cubicBezTo>
                    <a:pt x="11325" y="2483"/>
                    <a:pt x="17320" y="0"/>
                    <a:pt x="23572" y="0"/>
                  </a:cubicBezTo>
                  <a:close/>
                </a:path>
              </a:pathLst>
            </a:custGeom>
            <a:solidFill>
              <a:srgbClr val="FBFBFB">
                <a:alpha val="89804"/>
              </a:srgbClr>
            </a:solidFill>
          </p:spPr>
        </p:sp>
        <p:sp>
          <p:nvSpPr>
            <p:cNvPr name="TextBox 5" id="5"/>
            <p:cNvSpPr txBox="true"/>
            <p:nvPr/>
          </p:nvSpPr>
          <p:spPr>
            <a:xfrm>
              <a:off x="0" y="-38100"/>
              <a:ext cx="4411635" cy="240396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921262" y="1208889"/>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4629544" y="1343138"/>
            <a:ext cx="9747091" cy="854076"/>
          </a:xfrm>
          <a:prstGeom prst="rect">
            <a:avLst/>
          </a:prstGeom>
        </p:spPr>
        <p:txBody>
          <a:bodyPr anchor="t" rtlCol="false" tIns="0" lIns="0" bIns="0" rIns="0">
            <a:spAutoFit/>
          </a:bodyPr>
          <a:lstStyle/>
          <a:p>
            <a:pPr algn="ctr">
              <a:lnSpc>
                <a:spcPts val="6999"/>
              </a:lnSpc>
            </a:pPr>
            <a:r>
              <a:rPr lang="en-US" b="true" sz="4999">
                <a:solidFill>
                  <a:srgbClr val="FFFFFF"/>
                </a:solidFill>
                <a:latin typeface="Garet Bold"/>
                <a:ea typeface="Garet Bold"/>
                <a:cs typeface="Garet Bold"/>
                <a:sym typeface="Garet Bold"/>
              </a:rPr>
              <a:t>Struktur  Kuesioner</a:t>
            </a:r>
          </a:p>
        </p:txBody>
      </p:sp>
      <p:sp>
        <p:nvSpPr>
          <p:cNvPr name="TextBox 10" id="10"/>
          <p:cNvSpPr txBox="true"/>
          <p:nvPr/>
        </p:nvSpPr>
        <p:spPr>
          <a:xfrm rot="0">
            <a:off x="2035299" y="3496945"/>
            <a:ext cx="14935580" cy="3235960"/>
          </a:xfrm>
          <a:prstGeom prst="rect">
            <a:avLst/>
          </a:prstGeom>
        </p:spPr>
        <p:txBody>
          <a:bodyPr anchor="t" rtlCol="false" tIns="0" lIns="0" bIns="0" rIns="0">
            <a:spAutoFit/>
          </a:bodyPr>
          <a:lstStyle/>
          <a:p>
            <a:pPr algn="l">
              <a:lnSpc>
                <a:spcPts val="4339"/>
              </a:lnSpc>
            </a:pPr>
            <a:r>
              <a:rPr lang="en-US" sz="3099">
                <a:solidFill>
                  <a:srgbClr val="000000"/>
                </a:solidFill>
                <a:latin typeface="Garet"/>
                <a:ea typeface="Garet"/>
                <a:cs typeface="Garet"/>
                <a:sym typeface="Garet"/>
              </a:rPr>
              <a:t>Setiap butir pertanyaan dal</a:t>
            </a:r>
            <a:r>
              <a:rPr lang="en-US" sz="3099">
                <a:solidFill>
                  <a:srgbClr val="000000"/>
                </a:solidFill>
                <a:latin typeface="Garet"/>
                <a:ea typeface="Garet"/>
                <a:cs typeface="Garet"/>
                <a:sym typeface="Garet"/>
              </a:rPr>
              <a:t>am ku</a:t>
            </a:r>
            <a:r>
              <a:rPr lang="en-US" sz="3099">
                <a:solidFill>
                  <a:srgbClr val="000000"/>
                </a:solidFill>
                <a:latin typeface="Garet"/>
                <a:ea typeface="Garet"/>
                <a:cs typeface="Garet"/>
                <a:sym typeface="Garet"/>
              </a:rPr>
              <a:t>e</a:t>
            </a:r>
            <a:r>
              <a:rPr lang="en-US" sz="3099">
                <a:solidFill>
                  <a:srgbClr val="000000"/>
                </a:solidFill>
                <a:latin typeface="Garet"/>
                <a:ea typeface="Garet"/>
                <a:cs typeface="Garet"/>
                <a:sym typeface="Garet"/>
              </a:rPr>
              <a:t>s</a:t>
            </a:r>
            <a:r>
              <a:rPr lang="en-US" sz="3099">
                <a:solidFill>
                  <a:srgbClr val="000000"/>
                </a:solidFill>
                <a:latin typeface="Garet"/>
                <a:ea typeface="Garet"/>
                <a:cs typeface="Garet"/>
                <a:sym typeface="Garet"/>
              </a:rPr>
              <a:t>ioner ini dipandang sebagai sebuah </a:t>
            </a:r>
            <a:r>
              <a:rPr lang="en-US" sz="3099" b="true">
                <a:solidFill>
                  <a:srgbClr val="000000"/>
                </a:solidFill>
                <a:latin typeface="Garet Bold"/>
                <a:ea typeface="Garet Bold"/>
                <a:cs typeface="Garet Bold"/>
                <a:sym typeface="Garet Bold"/>
              </a:rPr>
              <a:t>Variabel Acak Bernoulli, </a:t>
            </a:r>
            <a:r>
              <a:rPr lang="en-US" sz="3099">
                <a:solidFill>
                  <a:srgbClr val="000000"/>
                </a:solidFill>
                <a:latin typeface="Garet"/>
                <a:ea typeface="Garet"/>
                <a:cs typeface="Garet"/>
                <a:sym typeface="Garet"/>
              </a:rPr>
              <a:t>di mana hasil dari s</a:t>
            </a:r>
            <a:r>
              <a:rPr lang="en-US" sz="3099">
                <a:solidFill>
                  <a:srgbClr val="000000"/>
                </a:solidFill>
                <a:latin typeface="Garet"/>
                <a:ea typeface="Garet"/>
                <a:cs typeface="Garet"/>
                <a:sym typeface="Garet"/>
              </a:rPr>
              <a:t>etia</a:t>
            </a:r>
            <a:r>
              <a:rPr lang="en-US" sz="3099">
                <a:solidFill>
                  <a:srgbClr val="000000"/>
                </a:solidFill>
                <a:latin typeface="Garet"/>
                <a:ea typeface="Garet"/>
                <a:cs typeface="Garet"/>
                <a:sym typeface="Garet"/>
              </a:rPr>
              <a:t>p</a:t>
            </a:r>
            <a:r>
              <a:rPr lang="en-US" sz="3099">
                <a:solidFill>
                  <a:srgbClr val="000000"/>
                </a:solidFill>
                <a:latin typeface="Garet"/>
                <a:ea typeface="Garet"/>
                <a:cs typeface="Garet"/>
                <a:sym typeface="Garet"/>
              </a:rPr>
              <a:t> </a:t>
            </a:r>
            <a:r>
              <a:rPr lang="en-US" sz="3099">
                <a:solidFill>
                  <a:srgbClr val="000000"/>
                </a:solidFill>
                <a:latin typeface="Garet"/>
                <a:ea typeface="Garet"/>
                <a:cs typeface="Garet"/>
                <a:sym typeface="Garet"/>
              </a:rPr>
              <a:t>r</a:t>
            </a:r>
            <a:r>
              <a:rPr lang="en-US" sz="3099">
                <a:solidFill>
                  <a:srgbClr val="000000"/>
                </a:solidFill>
                <a:latin typeface="Garet"/>
                <a:ea typeface="Garet"/>
                <a:cs typeface="Garet"/>
                <a:sym typeface="Garet"/>
              </a:rPr>
              <a:t>e</a:t>
            </a:r>
            <a:r>
              <a:rPr lang="en-US" sz="3099">
                <a:solidFill>
                  <a:srgbClr val="000000"/>
                </a:solidFill>
                <a:latin typeface="Garet"/>
                <a:ea typeface="Garet"/>
                <a:cs typeface="Garet"/>
                <a:sym typeface="Garet"/>
              </a:rPr>
              <a:t>spond</a:t>
            </a:r>
            <a:r>
              <a:rPr lang="en-US" sz="3099">
                <a:solidFill>
                  <a:srgbClr val="000000"/>
                </a:solidFill>
                <a:latin typeface="Garet"/>
                <a:ea typeface="Garet"/>
                <a:cs typeface="Garet"/>
                <a:sym typeface="Garet"/>
              </a:rPr>
              <a:t>en</a:t>
            </a:r>
            <a:r>
              <a:rPr lang="en-US" sz="3099">
                <a:solidFill>
                  <a:srgbClr val="000000"/>
                </a:solidFill>
                <a:latin typeface="Garet"/>
                <a:ea typeface="Garet"/>
                <a:cs typeface="Garet"/>
                <a:sym typeface="Garet"/>
              </a:rPr>
              <a:t> h</a:t>
            </a:r>
            <a:r>
              <a:rPr lang="en-US" sz="3099">
                <a:solidFill>
                  <a:srgbClr val="000000"/>
                </a:solidFill>
                <a:latin typeface="Garet"/>
                <a:ea typeface="Garet"/>
                <a:cs typeface="Garet"/>
                <a:sym typeface="Garet"/>
              </a:rPr>
              <a:t>an</a:t>
            </a:r>
            <a:r>
              <a:rPr lang="en-US" sz="3099">
                <a:solidFill>
                  <a:srgbClr val="000000"/>
                </a:solidFill>
                <a:latin typeface="Garet"/>
                <a:ea typeface="Garet"/>
                <a:cs typeface="Garet"/>
                <a:sym typeface="Garet"/>
              </a:rPr>
              <a:t>y</a:t>
            </a:r>
            <a:r>
              <a:rPr lang="en-US" sz="3099">
                <a:solidFill>
                  <a:srgbClr val="000000"/>
                </a:solidFill>
                <a:latin typeface="Garet"/>
                <a:ea typeface="Garet"/>
                <a:cs typeface="Garet"/>
                <a:sym typeface="Garet"/>
              </a:rPr>
              <a:t>a </a:t>
            </a:r>
            <a:r>
              <a:rPr lang="en-US" sz="3099">
                <a:solidFill>
                  <a:srgbClr val="000000"/>
                </a:solidFill>
                <a:latin typeface="Garet"/>
                <a:ea typeface="Garet"/>
                <a:cs typeface="Garet"/>
                <a:sym typeface="Garet"/>
              </a:rPr>
              <a:t>m</a:t>
            </a:r>
            <a:r>
              <a:rPr lang="en-US" sz="3099">
                <a:solidFill>
                  <a:srgbClr val="000000"/>
                </a:solidFill>
                <a:latin typeface="Garet"/>
                <a:ea typeface="Garet"/>
                <a:cs typeface="Garet"/>
                <a:sym typeface="Garet"/>
              </a:rPr>
              <a:t>e</a:t>
            </a:r>
            <a:r>
              <a:rPr lang="en-US" sz="3099">
                <a:solidFill>
                  <a:srgbClr val="000000"/>
                </a:solidFill>
                <a:latin typeface="Garet"/>
                <a:ea typeface="Garet"/>
                <a:cs typeface="Garet"/>
                <a:sym typeface="Garet"/>
              </a:rPr>
              <a:t>miliki dua kemungkinan (Ya atau Tidak). Secara kolektif, jawaban-jawaban ini membentuk </a:t>
            </a:r>
            <a:r>
              <a:rPr lang="en-US" sz="3099" b="true">
                <a:solidFill>
                  <a:srgbClr val="000000"/>
                </a:solidFill>
                <a:latin typeface="Garet Bold"/>
                <a:ea typeface="Garet Bold"/>
                <a:cs typeface="Garet Bold"/>
                <a:sym typeface="Garet Bold"/>
              </a:rPr>
              <a:t>Distribusi Binomial</a:t>
            </a:r>
            <a:r>
              <a:rPr lang="en-US" sz="3099">
                <a:solidFill>
                  <a:srgbClr val="000000"/>
                </a:solidFill>
                <a:latin typeface="Garet"/>
                <a:ea typeface="Garet"/>
                <a:cs typeface="Garet"/>
                <a:sym typeface="Garet"/>
              </a:rPr>
              <a:t>. Kami menggunakan pendekatan </a:t>
            </a:r>
            <a:r>
              <a:rPr lang="en-US" sz="3099" b="true">
                <a:solidFill>
                  <a:srgbClr val="000000"/>
                </a:solidFill>
                <a:latin typeface="Garet Bold"/>
                <a:ea typeface="Garet Bold"/>
                <a:cs typeface="Garet Bold"/>
                <a:sym typeface="Garet Bold"/>
              </a:rPr>
              <a:t>Distribusi Normal</a:t>
            </a:r>
            <a:r>
              <a:rPr lang="en-US" sz="3099">
                <a:solidFill>
                  <a:srgbClr val="000000"/>
                </a:solidFill>
                <a:latin typeface="Garet"/>
                <a:ea typeface="Garet"/>
                <a:cs typeface="Garet"/>
                <a:sym typeface="Garet"/>
              </a:rPr>
              <a:t> (m</a:t>
            </a:r>
            <a:r>
              <a:rPr lang="en-US" sz="3099">
                <a:solidFill>
                  <a:srgbClr val="000000"/>
                </a:solidFill>
                <a:latin typeface="Garet"/>
                <a:ea typeface="Garet"/>
                <a:cs typeface="Garet"/>
                <a:sym typeface="Garet"/>
              </a:rPr>
              <a:t>e</a:t>
            </a:r>
            <a:r>
              <a:rPr lang="en-US" sz="3099">
                <a:solidFill>
                  <a:srgbClr val="000000"/>
                </a:solidFill>
                <a:latin typeface="Garet"/>
                <a:ea typeface="Garet"/>
                <a:cs typeface="Garet"/>
                <a:sym typeface="Garet"/>
              </a:rPr>
              <a:t>lalu</a:t>
            </a:r>
            <a:r>
              <a:rPr lang="en-US" sz="3099">
                <a:solidFill>
                  <a:srgbClr val="000000"/>
                </a:solidFill>
                <a:latin typeface="Garet"/>
                <a:ea typeface="Garet"/>
                <a:cs typeface="Garet"/>
                <a:sym typeface="Garet"/>
              </a:rPr>
              <a:t>i</a:t>
            </a:r>
            <a:r>
              <a:rPr lang="en-US" sz="3099">
                <a:solidFill>
                  <a:srgbClr val="000000"/>
                </a:solidFill>
                <a:latin typeface="Garet"/>
                <a:ea typeface="Garet"/>
                <a:cs typeface="Garet"/>
                <a:sym typeface="Garet"/>
              </a:rPr>
              <a:t> </a:t>
            </a:r>
            <a:r>
              <a:rPr lang="en-US" sz="3099" b="true">
                <a:solidFill>
                  <a:srgbClr val="000000"/>
                </a:solidFill>
                <a:latin typeface="Garet Bold"/>
                <a:ea typeface="Garet Bold"/>
                <a:cs typeface="Garet Bold"/>
                <a:sym typeface="Garet Bold"/>
              </a:rPr>
              <a:t>Central Limit Theorem</a:t>
            </a:r>
            <a:r>
              <a:rPr lang="en-US" sz="3099">
                <a:solidFill>
                  <a:srgbClr val="000000"/>
                </a:solidFill>
                <a:latin typeface="Garet"/>
                <a:ea typeface="Garet"/>
                <a:cs typeface="Garet"/>
                <a:sym typeface="Garet"/>
              </a:rPr>
              <a:t>) untuk mengestimasi proporsi populasi berdasarkan sampel yang ada.</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124893" y="3119156"/>
            <a:ext cx="10038214" cy="2797174"/>
          </a:xfrm>
          <a:prstGeom prst="rect">
            <a:avLst/>
          </a:prstGeom>
        </p:spPr>
        <p:txBody>
          <a:bodyPr anchor="t" rtlCol="false" tIns="0" lIns="0" bIns="0" rIns="0">
            <a:spAutoFit/>
          </a:bodyPr>
          <a:lstStyle/>
          <a:p>
            <a:pPr algn="ctr">
              <a:lnSpc>
                <a:spcPts val="11200"/>
              </a:lnSpc>
            </a:pPr>
            <a:r>
              <a:rPr lang="en-US" sz="8000">
                <a:solidFill>
                  <a:srgbClr val="0D0F68"/>
                </a:solidFill>
                <a:latin typeface="Yeseva One"/>
                <a:ea typeface="Yeseva One"/>
                <a:cs typeface="Yeseva One"/>
                <a:sym typeface="Yeseva One"/>
              </a:rPr>
              <a:t>Pemeriksaan Variabel Individu</a:t>
            </a:r>
          </a:p>
        </p:txBody>
      </p:sp>
    </p:spTree>
  </p:cSld>
  <p:clrMapOvr>
    <a:masterClrMapping/>
  </p:clrMapOvr>
  <p:transition spd="fast">
    <p:circl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44717" y="419788"/>
            <a:ext cx="17160817" cy="9248901"/>
            <a:chOff x="0" y="0"/>
            <a:chExt cx="4519721" cy="2435925"/>
          </a:xfrm>
        </p:grpSpPr>
        <p:sp>
          <p:nvSpPr>
            <p:cNvPr name="Freeform 4" id="4"/>
            <p:cNvSpPr/>
            <p:nvPr/>
          </p:nvSpPr>
          <p:spPr>
            <a:xfrm flipH="false" flipV="false" rot="0">
              <a:off x="0" y="0"/>
              <a:ext cx="4519721" cy="2435925"/>
            </a:xfrm>
            <a:custGeom>
              <a:avLst/>
              <a:gdLst/>
              <a:ahLst/>
              <a:cxnLst/>
              <a:rect r="r" b="b" t="t" l="l"/>
              <a:pathLst>
                <a:path h="2435925" w="4519721">
                  <a:moveTo>
                    <a:pt x="23008" y="0"/>
                  </a:moveTo>
                  <a:lnTo>
                    <a:pt x="4496713" y="0"/>
                  </a:lnTo>
                  <a:cubicBezTo>
                    <a:pt x="4509420" y="0"/>
                    <a:pt x="4519721" y="10301"/>
                    <a:pt x="4519721" y="23008"/>
                  </a:cubicBezTo>
                  <a:lnTo>
                    <a:pt x="4519721" y="2412916"/>
                  </a:lnTo>
                  <a:cubicBezTo>
                    <a:pt x="4519721" y="2425623"/>
                    <a:pt x="4509420" y="2435925"/>
                    <a:pt x="4496713" y="2435925"/>
                  </a:cubicBezTo>
                  <a:lnTo>
                    <a:pt x="23008" y="2435925"/>
                  </a:lnTo>
                  <a:cubicBezTo>
                    <a:pt x="10301" y="2435925"/>
                    <a:pt x="0" y="2425623"/>
                    <a:pt x="0" y="2412916"/>
                  </a:cubicBezTo>
                  <a:lnTo>
                    <a:pt x="0" y="23008"/>
                  </a:lnTo>
                  <a:cubicBezTo>
                    <a:pt x="0" y="10301"/>
                    <a:pt x="10301" y="0"/>
                    <a:pt x="23008" y="0"/>
                  </a:cubicBezTo>
                  <a:close/>
                </a:path>
              </a:pathLst>
            </a:custGeom>
            <a:solidFill>
              <a:srgbClr val="FBFBFB">
                <a:alpha val="89804"/>
              </a:srgbClr>
            </a:solidFill>
          </p:spPr>
        </p:sp>
        <p:sp>
          <p:nvSpPr>
            <p:cNvPr name="TextBox 5" id="5"/>
            <p:cNvSpPr txBox="true"/>
            <p:nvPr/>
          </p:nvSpPr>
          <p:spPr>
            <a:xfrm>
              <a:off x="0" y="-38100"/>
              <a:ext cx="4519721" cy="24740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519768" y="-189123"/>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5405237" y="1028700"/>
            <a:ext cx="7039778" cy="4618682"/>
          </a:xfrm>
          <a:custGeom>
            <a:avLst/>
            <a:gdLst/>
            <a:ahLst/>
            <a:cxnLst/>
            <a:rect r="r" b="b" t="t" l="l"/>
            <a:pathLst>
              <a:path h="4618682" w="7039778">
                <a:moveTo>
                  <a:pt x="0" y="0"/>
                </a:moveTo>
                <a:lnTo>
                  <a:pt x="7039777" y="0"/>
                </a:lnTo>
                <a:lnTo>
                  <a:pt x="7039777" y="4618682"/>
                </a:lnTo>
                <a:lnTo>
                  <a:pt x="0" y="4618682"/>
                </a:lnTo>
                <a:lnTo>
                  <a:pt x="0" y="0"/>
                </a:lnTo>
                <a:close/>
              </a:path>
            </a:pathLst>
          </a:custGeom>
          <a:blipFill>
            <a:blip r:embed="rId3"/>
            <a:stretch>
              <a:fillRect l="-1836" t="0" r="-4433" b="0"/>
            </a:stretch>
          </a:blipFill>
        </p:spPr>
      </p:sp>
      <p:sp>
        <p:nvSpPr>
          <p:cNvPr name="TextBox 10" id="10"/>
          <p:cNvSpPr txBox="true"/>
          <p:nvPr/>
        </p:nvSpPr>
        <p:spPr>
          <a:xfrm rot="0">
            <a:off x="1276232" y="5599757"/>
            <a:ext cx="15735537" cy="3709034"/>
          </a:xfrm>
          <a:prstGeom prst="rect">
            <a:avLst/>
          </a:prstGeom>
        </p:spPr>
        <p:txBody>
          <a:bodyPr anchor="t" rtlCol="false" tIns="0" lIns="0" bIns="0" rIns="0">
            <a:spAutoFit/>
          </a:bodyPr>
          <a:lstStyle/>
          <a:p>
            <a:pPr algn="just">
              <a:lnSpc>
                <a:spcPts val="2940"/>
              </a:lnSpc>
            </a:pPr>
            <a:r>
              <a:rPr lang="en-US" sz="2100">
                <a:solidFill>
                  <a:srgbClr val="000000"/>
                </a:solidFill>
                <a:latin typeface="Garet"/>
                <a:ea typeface="Garet"/>
                <a:cs typeface="Garet"/>
                <a:sym typeface="Garet"/>
              </a:rPr>
              <a:t>I</a:t>
            </a:r>
            <a:r>
              <a:rPr lang="en-US" sz="2100" b="true">
                <a:solidFill>
                  <a:srgbClr val="000000"/>
                </a:solidFill>
                <a:latin typeface="Garet Bold"/>
                <a:ea typeface="Garet Bold"/>
                <a:cs typeface="Garet Bold"/>
                <a:sym typeface="Garet Bold"/>
              </a:rPr>
              <a:t>nterpretasi: </a:t>
            </a:r>
          </a:p>
          <a:p>
            <a:pPr algn="just" marL="453395" indent="-226697" lvl="1">
              <a:lnSpc>
                <a:spcPts val="2940"/>
              </a:lnSpc>
              <a:buFont typeface="Arial"/>
              <a:buChar char="•"/>
            </a:pPr>
            <a:r>
              <a:rPr lang="en-US" sz="2100">
                <a:solidFill>
                  <a:srgbClr val="000000"/>
                </a:solidFill>
                <a:latin typeface="Garet"/>
                <a:ea typeface="Garet"/>
                <a:cs typeface="Garet"/>
                <a:sym typeface="Garet"/>
              </a:rPr>
              <a:t>Dominasi Rumpun Komputasi (Sains Data &amp; Informatika): Mayoritas responden berasal dari internal jurusan ini, sehingga data sangat akurat dalam memotret pola belajar dan beban tugas spesifik mahasiswa rumpun teknologi.</a:t>
            </a:r>
          </a:p>
          <a:p>
            <a:pPr algn="just" marL="453395" indent="-226697" lvl="1">
              <a:lnSpc>
                <a:spcPts val="2940"/>
              </a:lnSpc>
              <a:buFont typeface="Arial"/>
              <a:buChar char="•"/>
            </a:pPr>
            <a:r>
              <a:rPr lang="en-US" sz="2100">
                <a:solidFill>
                  <a:srgbClr val="000000"/>
                </a:solidFill>
                <a:latin typeface="Garet"/>
                <a:ea typeface="Garet"/>
                <a:cs typeface="Garet"/>
                <a:sym typeface="Garet"/>
              </a:rPr>
              <a:t>Keterwakilan Rumpun Teknik (Metalurgi, Sipil, Perminyakan): Partisipasi dari berbagai jurusan teknik sangat relevan untuk menguji dampak gaya hidup (tidur, gadget, olahraga) terhadap intensitas kuliah mereka yang padat akan praktikum dan hitungan.</a:t>
            </a:r>
          </a:p>
          <a:p>
            <a:pPr algn="just" marL="453395" indent="-226697" lvl="1">
              <a:lnSpc>
                <a:spcPts val="2940"/>
              </a:lnSpc>
              <a:buFont typeface="Arial"/>
              <a:buChar char="•"/>
            </a:pPr>
            <a:r>
              <a:rPr lang="en-US" sz="2100">
                <a:solidFill>
                  <a:srgbClr val="000000"/>
                </a:solidFill>
                <a:latin typeface="Garet"/>
                <a:ea typeface="Garet"/>
                <a:cs typeface="Garet"/>
                <a:sym typeface="Garet"/>
              </a:rPr>
              <a:t>Kategorisasi "Prodi Lainnya" Lebih Efektif: Jurusan dengan hanya 1 responden dilebur ke dalam kelompok "Prodi Lainnya" agar visualisasi grafik tetap bersih, proporsional, dan menghindari bias analisis akibat sampel yang terlalu sedikit.</a:t>
            </a:r>
          </a:p>
        </p:txBody>
      </p:sp>
      <p:sp>
        <p:nvSpPr>
          <p:cNvPr name="TextBox 11" id="11"/>
          <p:cNvSpPr txBox="true"/>
          <p:nvPr/>
        </p:nvSpPr>
        <p:spPr>
          <a:xfrm rot="0">
            <a:off x="11153710" y="51488"/>
            <a:ext cx="7895771" cy="669925"/>
          </a:xfrm>
          <a:prstGeom prst="rect">
            <a:avLst/>
          </a:prstGeom>
        </p:spPr>
        <p:txBody>
          <a:bodyPr anchor="t" rtlCol="false" tIns="0" lIns="0" bIns="0" rIns="0">
            <a:spAutoFit/>
          </a:bodyPr>
          <a:lstStyle/>
          <a:p>
            <a:pPr algn="ctr">
              <a:lnSpc>
                <a:spcPts val="5599"/>
              </a:lnSpc>
            </a:pPr>
            <a:r>
              <a:rPr lang="en-US" b="true" sz="3999">
                <a:solidFill>
                  <a:srgbClr val="FBFBFB"/>
                </a:solidFill>
                <a:latin typeface="Garet Bold"/>
                <a:ea typeface="Garet Bold"/>
                <a:cs typeface="Garet Bold"/>
                <a:sym typeface="Garet Bold"/>
              </a:rPr>
              <a:t>Visualisasi</a:t>
            </a:r>
          </a:p>
        </p:txBody>
      </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44717" y="419788"/>
            <a:ext cx="17160817" cy="9248901"/>
            <a:chOff x="0" y="0"/>
            <a:chExt cx="4519721" cy="2435925"/>
          </a:xfrm>
        </p:grpSpPr>
        <p:sp>
          <p:nvSpPr>
            <p:cNvPr name="Freeform 4" id="4"/>
            <p:cNvSpPr/>
            <p:nvPr/>
          </p:nvSpPr>
          <p:spPr>
            <a:xfrm flipH="false" flipV="false" rot="0">
              <a:off x="0" y="0"/>
              <a:ext cx="4519721" cy="2435925"/>
            </a:xfrm>
            <a:custGeom>
              <a:avLst/>
              <a:gdLst/>
              <a:ahLst/>
              <a:cxnLst/>
              <a:rect r="r" b="b" t="t" l="l"/>
              <a:pathLst>
                <a:path h="2435925" w="4519721">
                  <a:moveTo>
                    <a:pt x="23008" y="0"/>
                  </a:moveTo>
                  <a:lnTo>
                    <a:pt x="4496713" y="0"/>
                  </a:lnTo>
                  <a:cubicBezTo>
                    <a:pt x="4509420" y="0"/>
                    <a:pt x="4519721" y="10301"/>
                    <a:pt x="4519721" y="23008"/>
                  </a:cubicBezTo>
                  <a:lnTo>
                    <a:pt x="4519721" y="2412916"/>
                  </a:lnTo>
                  <a:cubicBezTo>
                    <a:pt x="4519721" y="2425623"/>
                    <a:pt x="4509420" y="2435925"/>
                    <a:pt x="4496713" y="2435925"/>
                  </a:cubicBezTo>
                  <a:lnTo>
                    <a:pt x="23008" y="2435925"/>
                  </a:lnTo>
                  <a:cubicBezTo>
                    <a:pt x="10301" y="2435925"/>
                    <a:pt x="0" y="2425623"/>
                    <a:pt x="0" y="2412916"/>
                  </a:cubicBezTo>
                  <a:lnTo>
                    <a:pt x="0" y="23008"/>
                  </a:lnTo>
                  <a:cubicBezTo>
                    <a:pt x="0" y="10301"/>
                    <a:pt x="10301" y="0"/>
                    <a:pt x="23008" y="0"/>
                  </a:cubicBezTo>
                  <a:close/>
                </a:path>
              </a:pathLst>
            </a:custGeom>
            <a:solidFill>
              <a:srgbClr val="FBFBFB">
                <a:alpha val="89804"/>
              </a:srgbClr>
            </a:solidFill>
          </p:spPr>
        </p:sp>
        <p:sp>
          <p:nvSpPr>
            <p:cNvPr name="TextBox 5" id="5"/>
            <p:cNvSpPr txBox="true"/>
            <p:nvPr/>
          </p:nvSpPr>
          <p:spPr>
            <a:xfrm>
              <a:off x="0" y="-38100"/>
              <a:ext cx="4519721" cy="24740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519768" y="-189123"/>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6803995" y="1028700"/>
            <a:ext cx="4362214" cy="4313306"/>
          </a:xfrm>
          <a:custGeom>
            <a:avLst/>
            <a:gdLst/>
            <a:ahLst/>
            <a:cxnLst/>
            <a:rect r="r" b="b" t="t" l="l"/>
            <a:pathLst>
              <a:path h="4313306" w="4362214">
                <a:moveTo>
                  <a:pt x="0" y="0"/>
                </a:moveTo>
                <a:lnTo>
                  <a:pt x="4362214" y="0"/>
                </a:lnTo>
                <a:lnTo>
                  <a:pt x="4362214" y="4313306"/>
                </a:lnTo>
                <a:lnTo>
                  <a:pt x="0" y="4313306"/>
                </a:lnTo>
                <a:lnTo>
                  <a:pt x="0" y="0"/>
                </a:lnTo>
                <a:close/>
              </a:path>
            </a:pathLst>
          </a:custGeom>
          <a:blipFill>
            <a:blip r:embed="rId3"/>
            <a:stretch>
              <a:fillRect l="-99082" t="-2250" r="-98001" b="0"/>
            </a:stretch>
          </a:blipFill>
        </p:spPr>
      </p:sp>
      <p:sp>
        <p:nvSpPr>
          <p:cNvPr name="TextBox 10" id="10"/>
          <p:cNvSpPr txBox="true"/>
          <p:nvPr/>
        </p:nvSpPr>
        <p:spPr>
          <a:xfrm rot="0">
            <a:off x="1278216" y="5549266"/>
            <a:ext cx="15293819" cy="3709034"/>
          </a:xfrm>
          <a:prstGeom prst="rect">
            <a:avLst/>
          </a:prstGeom>
        </p:spPr>
        <p:txBody>
          <a:bodyPr anchor="t" rtlCol="false" tIns="0" lIns="0" bIns="0" rIns="0">
            <a:spAutoFit/>
          </a:bodyPr>
          <a:lstStyle/>
          <a:p>
            <a:pPr algn="just">
              <a:lnSpc>
                <a:spcPts val="2940"/>
              </a:lnSpc>
            </a:pPr>
            <a:r>
              <a:rPr lang="en-US" sz="2100">
                <a:solidFill>
                  <a:srgbClr val="000000"/>
                </a:solidFill>
                <a:latin typeface="Garet"/>
                <a:ea typeface="Garet"/>
                <a:cs typeface="Garet"/>
                <a:sym typeface="Garet"/>
              </a:rPr>
              <a:t>I</a:t>
            </a:r>
            <a:r>
              <a:rPr lang="en-US" sz="2100" b="true">
                <a:solidFill>
                  <a:srgbClr val="000000"/>
                </a:solidFill>
                <a:latin typeface="Garet Bold"/>
                <a:ea typeface="Garet Bold"/>
                <a:cs typeface="Garet Bold"/>
                <a:sym typeface="Garet Bold"/>
              </a:rPr>
              <a:t>nterpretasi: </a:t>
            </a:r>
          </a:p>
          <a:p>
            <a:pPr algn="just" marL="453395" indent="-226697" lvl="1">
              <a:lnSpc>
                <a:spcPts val="2940"/>
              </a:lnSpc>
              <a:buFont typeface="Arial"/>
              <a:buChar char="•"/>
            </a:pPr>
            <a:r>
              <a:rPr lang="en-US" sz="2100">
                <a:solidFill>
                  <a:srgbClr val="000000"/>
                </a:solidFill>
                <a:latin typeface="Garet"/>
                <a:ea typeface="Garet"/>
                <a:cs typeface="Garet"/>
                <a:sym typeface="Garet"/>
              </a:rPr>
              <a:t>Potret Realitas Beban Mahasiswa: Mayoritas responden yang kurang tidur (menjawab "Tidak") mencerminkan realitas perkuliahan, di mana padatnya tugas coding, laporan praktikum, dan manajemen waktu yang kurang ketat menjadi pemicu utama kurangnya istirahat ideal.</a:t>
            </a:r>
          </a:p>
          <a:p>
            <a:pPr algn="just" marL="453395" indent="-226697" lvl="1">
              <a:lnSpc>
                <a:spcPts val="2940"/>
              </a:lnSpc>
              <a:buFont typeface="Arial"/>
              <a:buChar char="•"/>
            </a:pPr>
            <a:r>
              <a:rPr lang="en-US" sz="2100">
                <a:solidFill>
                  <a:srgbClr val="000000"/>
                </a:solidFill>
                <a:latin typeface="Garet"/>
                <a:ea typeface="Garet"/>
                <a:cs typeface="Garet"/>
                <a:sym typeface="Garet"/>
              </a:rPr>
              <a:t>Kelompok Minoritas yang Ideal: Sebagian kecil responden yang cukup tidur (menjawab "Ya") menunjukkan kelompok mahasiswa yang berhasil mempertahankan regulasi diri dan manajemen energi dengan baik di tengah padatnya jadwal kuliah.</a:t>
            </a:r>
          </a:p>
          <a:p>
            <a:pPr algn="just" marL="453395" indent="-226697" lvl="1">
              <a:lnSpc>
                <a:spcPts val="2940"/>
              </a:lnSpc>
              <a:buFont typeface="Arial"/>
              <a:buChar char="•"/>
            </a:pPr>
            <a:r>
              <a:rPr lang="en-US" sz="2100">
                <a:solidFill>
                  <a:srgbClr val="000000"/>
                </a:solidFill>
                <a:latin typeface="Garet"/>
                <a:ea typeface="Garet"/>
                <a:cs typeface="Garet"/>
                <a:sym typeface="Garet"/>
              </a:rPr>
              <a:t>Implikasi ke Kapasitas Belajar: Data ini menjadi fondasi penting yang menjelaskan mengapa performa kognitif—seperti daya konsentrasi dan daya ingat kuliah—sering kali menurun pada mahasiswa dengan jam tidur yang berantakan.</a:t>
            </a:r>
          </a:p>
        </p:txBody>
      </p:sp>
      <p:sp>
        <p:nvSpPr>
          <p:cNvPr name="TextBox 11" id="11"/>
          <p:cNvSpPr txBox="true"/>
          <p:nvPr/>
        </p:nvSpPr>
        <p:spPr>
          <a:xfrm rot="0">
            <a:off x="11153710" y="51488"/>
            <a:ext cx="7895771" cy="669925"/>
          </a:xfrm>
          <a:prstGeom prst="rect">
            <a:avLst/>
          </a:prstGeom>
        </p:spPr>
        <p:txBody>
          <a:bodyPr anchor="t" rtlCol="false" tIns="0" lIns="0" bIns="0" rIns="0">
            <a:spAutoFit/>
          </a:bodyPr>
          <a:lstStyle/>
          <a:p>
            <a:pPr algn="ctr">
              <a:lnSpc>
                <a:spcPts val="5599"/>
              </a:lnSpc>
            </a:pPr>
            <a:r>
              <a:rPr lang="en-US" b="true" sz="3999">
                <a:solidFill>
                  <a:srgbClr val="FBFBFB"/>
                </a:solidFill>
                <a:latin typeface="Garet Bold"/>
                <a:ea typeface="Garet Bold"/>
                <a:cs typeface="Garet Bold"/>
                <a:sym typeface="Garet Bold"/>
              </a:rPr>
              <a:t>Visualisasi</a:t>
            </a: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44717" y="419788"/>
            <a:ext cx="17160817" cy="9248901"/>
            <a:chOff x="0" y="0"/>
            <a:chExt cx="4519721" cy="2435925"/>
          </a:xfrm>
        </p:grpSpPr>
        <p:sp>
          <p:nvSpPr>
            <p:cNvPr name="Freeform 4" id="4"/>
            <p:cNvSpPr/>
            <p:nvPr/>
          </p:nvSpPr>
          <p:spPr>
            <a:xfrm flipH="false" flipV="false" rot="0">
              <a:off x="0" y="0"/>
              <a:ext cx="4519721" cy="2435925"/>
            </a:xfrm>
            <a:custGeom>
              <a:avLst/>
              <a:gdLst/>
              <a:ahLst/>
              <a:cxnLst/>
              <a:rect r="r" b="b" t="t" l="l"/>
              <a:pathLst>
                <a:path h="2435925" w="4519721">
                  <a:moveTo>
                    <a:pt x="23008" y="0"/>
                  </a:moveTo>
                  <a:lnTo>
                    <a:pt x="4496713" y="0"/>
                  </a:lnTo>
                  <a:cubicBezTo>
                    <a:pt x="4509420" y="0"/>
                    <a:pt x="4519721" y="10301"/>
                    <a:pt x="4519721" y="23008"/>
                  </a:cubicBezTo>
                  <a:lnTo>
                    <a:pt x="4519721" y="2412916"/>
                  </a:lnTo>
                  <a:cubicBezTo>
                    <a:pt x="4519721" y="2425623"/>
                    <a:pt x="4509420" y="2435925"/>
                    <a:pt x="4496713" y="2435925"/>
                  </a:cubicBezTo>
                  <a:lnTo>
                    <a:pt x="23008" y="2435925"/>
                  </a:lnTo>
                  <a:cubicBezTo>
                    <a:pt x="10301" y="2435925"/>
                    <a:pt x="0" y="2425623"/>
                    <a:pt x="0" y="2412916"/>
                  </a:cubicBezTo>
                  <a:lnTo>
                    <a:pt x="0" y="23008"/>
                  </a:lnTo>
                  <a:cubicBezTo>
                    <a:pt x="0" y="10301"/>
                    <a:pt x="10301" y="0"/>
                    <a:pt x="23008" y="0"/>
                  </a:cubicBezTo>
                  <a:close/>
                </a:path>
              </a:pathLst>
            </a:custGeom>
            <a:solidFill>
              <a:srgbClr val="FBFBFB">
                <a:alpha val="89804"/>
              </a:srgbClr>
            </a:solidFill>
          </p:spPr>
        </p:sp>
        <p:sp>
          <p:nvSpPr>
            <p:cNvPr name="TextBox 5" id="5"/>
            <p:cNvSpPr txBox="true"/>
            <p:nvPr/>
          </p:nvSpPr>
          <p:spPr>
            <a:xfrm>
              <a:off x="0" y="-38100"/>
              <a:ext cx="4519721" cy="24740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519768" y="-189123"/>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6104767" y="1028700"/>
            <a:ext cx="5048943" cy="4613781"/>
          </a:xfrm>
          <a:custGeom>
            <a:avLst/>
            <a:gdLst/>
            <a:ahLst/>
            <a:cxnLst/>
            <a:rect r="r" b="b" t="t" l="l"/>
            <a:pathLst>
              <a:path h="4613781" w="5048943">
                <a:moveTo>
                  <a:pt x="0" y="0"/>
                </a:moveTo>
                <a:lnTo>
                  <a:pt x="5048943" y="0"/>
                </a:lnTo>
                <a:lnTo>
                  <a:pt x="5048943" y="4613781"/>
                </a:lnTo>
                <a:lnTo>
                  <a:pt x="0" y="4613781"/>
                </a:lnTo>
                <a:lnTo>
                  <a:pt x="0" y="0"/>
                </a:lnTo>
                <a:close/>
              </a:path>
            </a:pathLst>
          </a:custGeom>
          <a:blipFill>
            <a:blip r:embed="rId3"/>
            <a:stretch>
              <a:fillRect l="-81359" t="0" r="-87153" b="0"/>
            </a:stretch>
          </a:blipFill>
        </p:spPr>
      </p:sp>
      <p:sp>
        <p:nvSpPr>
          <p:cNvPr name="TextBox 10" id="10"/>
          <p:cNvSpPr txBox="true"/>
          <p:nvPr/>
        </p:nvSpPr>
        <p:spPr>
          <a:xfrm rot="0">
            <a:off x="1028700" y="5549266"/>
            <a:ext cx="16230600" cy="3709034"/>
          </a:xfrm>
          <a:prstGeom prst="rect">
            <a:avLst/>
          </a:prstGeom>
        </p:spPr>
        <p:txBody>
          <a:bodyPr anchor="t" rtlCol="false" tIns="0" lIns="0" bIns="0" rIns="0">
            <a:spAutoFit/>
          </a:bodyPr>
          <a:lstStyle/>
          <a:p>
            <a:pPr algn="just">
              <a:lnSpc>
                <a:spcPts val="2940"/>
              </a:lnSpc>
            </a:pPr>
            <a:r>
              <a:rPr lang="en-US" sz="2100">
                <a:solidFill>
                  <a:srgbClr val="000000"/>
                </a:solidFill>
                <a:latin typeface="Garet"/>
                <a:ea typeface="Garet"/>
                <a:cs typeface="Garet"/>
                <a:sym typeface="Garet"/>
              </a:rPr>
              <a:t>I</a:t>
            </a:r>
            <a:r>
              <a:rPr lang="en-US" sz="2100" b="true">
                <a:solidFill>
                  <a:srgbClr val="000000"/>
                </a:solidFill>
                <a:latin typeface="Garet Bold"/>
                <a:ea typeface="Garet Bold"/>
                <a:cs typeface="Garet Bold"/>
                <a:sym typeface="Garet Bold"/>
              </a:rPr>
              <a:t>nterpretasi: </a:t>
            </a:r>
          </a:p>
          <a:p>
            <a:pPr algn="just" marL="453395" indent="-226697" lvl="1">
              <a:lnSpc>
                <a:spcPts val="2940"/>
              </a:lnSpc>
              <a:buFont typeface="Arial"/>
              <a:buChar char="•"/>
            </a:pPr>
            <a:r>
              <a:rPr lang="en-US" sz="2100">
                <a:solidFill>
                  <a:srgbClr val="000000"/>
                </a:solidFill>
                <a:latin typeface="Garet"/>
                <a:ea typeface="Garet"/>
                <a:cs typeface="Garet"/>
                <a:sym typeface="Garet"/>
              </a:rPr>
              <a:t>Tingginya Pola Hidup Sedenter (Kurang Gerak): Mayoritas responden yang jarang berolahraga (menjawab "Tidak") mencerminkan tingginya pola hidup sedenter akibat padatnya jadwal kuliah, tugas di depan laptop, dan kurangnya motivasi.</a:t>
            </a:r>
          </a:p>
          <a:p>
            <a:pPr algn="just" marL="453395" indent="-226697" lvl="1">
              <a:lnSpc>
                <a:spcPts val="2940"/>
              </a:lnSpc>
              <a:buFont typeface="Arial"/>
              <a:buChar char="•"/>
            </a:pPr>
            <a:r>
              <a:rPr lang="en-US" sz="2100">
                <a:solidFill>
                  <a:srgbClr val="000000"/>
                </a:solidFill>
                <a:latin typeface="Garet"/>
                <a:ea typeface="Garet"/>
                <a:cs typeface="Garet"/>
                <a:sym typeface="Garet"/>
              </a:rPr>
              <a:t>Tantangan Konsistensi Kebugaran: Sebagian kecil responden yang aktif bergerak (menjawab "Ya") menunjukkan kelompok mahasiswa yang sadar dan berkomitmen meluangkan waktu untuk menjaga kebugaran di tengah kesibukan akademik.</a:t>
            </a:r>
          </a:p>
          <a:p>
            <a:pPr algn="just" marL="453395" indent="-226697" lvl="1">
              <a:lnSpc>
                <a:spcPts val="2940"/>
              </a:lnSpc>
              <a:buFont typeface="Arial"/>
              <a:buChar char="•"/>
            </a:pPr>
            <a:r>
              <a:rPr lang="en-US" sz="2100">
                <a:solidFill>
                  <a:srgbClr val="000000"/>
                </a:solidFill>
                <a:latin typeface="Garet"/>
                <a:ea typeface="Garet"/>
                <a:cs typeface="Garet"/>
                <a:sym typeface="Garet"/>
              </a:rPr>
              <a:t>Implikasi ke Ketahanan Mental: Kurangnya olahraga berkorelasi langsung dengan tingkat stres yang lebih tinggi dan fisik yang cepat lelah. Tanpa aktivitas fisik, mahasiswa kehilangan pemicu hormon endorfin yang berfungsi mereduksi kejenuhan belajar.</a:t>
            </a:r>
          </a:p>
        </p:txBody>
      </p:sp>
      <p:sp>
        <p:nvSpPr>
          <p:cNvPr name="TextBox 11" id="11"/>
          <p:cNvSpPr txBox="true"/>
          <p:nvPr/>
        </p:nvSpPr>
        <p:spPr>
          <a:xfrm rot="0">
            <a:off x="11153710" y="51488"/>
            <a:ext cx="7895771" cy="669925"/>
          </a:xfrm>
          <a:prstGeom prst="rect">
            <a:avLst/>
          </a:prstGeom>
        </p:spPr>
        <p:txBody>
          <a:bodyPr anchor="t" rtlCol="false" tIns="0" lIns="0" bIns="0" rIns="0">
            <a:spAutoFit/>
          </a:bodyPr>
          <a:lstStyle/>
          <a:p>
            <a:pPr algn="ctr">
              <a:lnSpc>
                <a:spcPts val="5599"/>
              </a:lnSpc>
            </a:pPr>
            <a:r>
              <a:rPr lang="en-US" b="true" sz="3999">
                <a:solidFill>
                  <a:srgbClr val="FBFBFB"/>
                </a:solidFill>
                <a:latin typeface="Garet Bold"/>
                <a:ea typeface="Garet Bold"/>
                <a:cs typeface="Garet Bold"/>
                <a:sym typeface="Garet Bold"/>
              </a:rPr>
              <a:t>Visualisasi</a:t>
            </a:r>
          </a:p>
        </p:txBody>
      </p:sp>
    </p:spTree>
  </p:cSld>
  <p:clrMapOvr>
    <a:masterClrMapping/>
  </p:clrMapOvr>
  <p:transition spd="slow">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44717" y="419788"/>
            <a:ext cx="17160817" cy="9248901"/>
            <a:chOff x="0" y="0"/>
            <a:chExt cx="4519721" cy="2435925"/>
          </a:xfrm>
        </p:grpSpPr>
        <p:sp>
          <p:nvSpPr>
            <p:cNvPr name="Freeform 4" id="4"/>
            <p:cNvSpPr/>
            <p:nvPr/>
          </p:nvSpPr>
          <p:spPr>
            <a:xfrm flipH="false" flipV="false" rot="0">
              <a:off x="0" y="0"/>
              <a:ext cx="4519721" cy="2435925"/>
            </a:xfrm>
            <a:custGeom>
              <a:avLst/>
              <a:gdLst/>
              <a:ahLst/>
              <a:cxnLst/>
              <a:rect r="r" b="b" t="t" l="l"/>
              <a:pathLst>
                <a:path h="2435925" w="4519721">
                  <a:moveTo>
                    <a:pt x="23008" y="0"/>
                  </a:moveTo>
                  <a:lnTo>
                    <a:pt x="4496713" y="0"/>
                  </a:lnTo>
                  <a:cubicBezTo>
                    <a:pt x="4509420" y="0"/>
                    <a:pt x="4519721" y="10301"/>
                    <a:pt x="4519721" y="23008"/>
                  </a:cubicBezTo>
                  <a:lnTo>
                    <a:pt x="4519721" y="2412916"/>
                  </a:lnTo>
                  <a:cubicBezTo>
                    <a:pt x="4519721" y="2425623"/>
                    <a:pt x="4509420" y="2435925"/>
                    <a:pt x="4496713" y="2435925"/>
                  </a:cubicBezTo>
                  <a:lnTo>
                    <a:pt x="23008" y="2435925"/>
                  </a:lnTo>
                  <a:cubicBezTo>
                    <a:pt x="10301" y="2435925"/>
                    <a:pt x="0" y="2425623"/>
                    <a:pt x="0" y="2412916"/>
                  </a:cubicBezTo>
                  <a:lnTo>
                    <a:pt x="0" y="23008"/>
                  </a:lnTo>
                  <a:cubicBezTo>
                    <a:pt x="0" y="10301"/>
                    <a:pt x="10301" y="0"/>
                    <a:pt x="23008" y="0"/>
                  </a:cubicBezTo>
                  <a:close/>
                </a:path>
              </a:pathLst>
            </a:custGeom>
            <a:solidFill>
              <a:srgbClr val="FBFBFB">
                <a:alpha val="89804"/>
              </a:srgbClr>
            </a:solidFill>
          </p:spPr>
        </p:sp>
        <p:sp>
          <p:nvSpPr>
            <p:cNvPr name="TextBox 5" id="5"/>
            <p:cNvSpPr txBox="true"/>
            <p:nvPr/>
          </p:nvSpPr>
          <p:spPr>
            <a:xfrm>
              <a:off x="0" y="-38100"/>
              <a:ext cx="4519721" cy="24740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519768" y="-189123"/>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6203408" y="1011533"/>
            <a:ext cx="4950302" cy="4131967"/>
          </a:xfrm>
          <a:custGeom>
            <a:avLst/>
            <a:gdLst/>
            <a:ahLst/>
            <a:cxnLst/>
            <a:rect r="r" b="b" t="t" l="l"/>
            <a:pathLst>
              <a:path h="4131967" w="4950302">
                <a:moveTo>
                  <a:pt x="0" y="0"/>
                </a:moveTo>
                <a:lnTo>
                  <a:pt x="4950302" y="0"/>
                </a:lnTo>
                <a:lnTo>
                  <a:pt x="4950302" y="4131967"/>
                </a:lnTo>
                <a:lnTo>
                  <a:pt x="0" y="4131967"/>
                </a:lnTo>
                <a:lnTo>
                  <a:pt x="0" y="0"/>
                </a:lnTo>
                <a:close/>
              </a:path>
            </a:pathLst>
          </a:custGeom>
          <a:blipFill>
            <a:blip r:embed="rId3"/>
            <a:stretch>
              <a:fillRect l="-73756" t="0" r="-71507" b="0"/>
            </a:stretch>
          </a:blipFill>
        </p:spPr>
      </p:sp>
      <p:sp>
        <p:nvSpPr>
          <p:cNvPr name="TextBox 10" id="10"/>
          <p:cNvSpPr txBox="true"/>
          <p:nvPr/>
        </p:nvSpPr>
        <p:spPr>
          <a:xfrm rot="0">
            <a:off x="809825" y="5411497"/>
            <a:ext cx="16230600" cy="4080509"/>
          </a:xfrm>
          <a:prstGeom prst="rect">
            <a:avLst/>
          </a:prstGeom>
        </p:spPr>
        <p:txBody>
          <a:bodyPr anchor="t" rtlCol="false" tIns="0" lIns="0" bIns="0" rIns="0">
            <a:spAutoFit/>
          </a:bodyPr>
          <a:lstStyle/>
          <a:p>
            <a:pPr algn="just">
              <a:lnSpc>
                <a:spcPts val="2940"/>
              </a:lnSpc>
            </a:pPr>
            <a:r>
              <a:rPr lang="en-US" sz="2100">
                <a:solidFill>
                  <a:srgbClr val="000000"/>
                </a:solidFill>
                <a:latin typeface="Garet"/>
                <a:ea typeface="Garet"/>
                <a:cs typeface="Garet"/>
                <a:sym typeface="Garet"/>
              </a:rPr>
              <a:t>I</a:t>
            </a:r>
            <a:r>
              <a:rPr lang="en-US" b="true" sz="2100">
                <a:solidFill>
                  <a:srgbClr val="000000"/>
                </a:solidFill>
                <a:latin typeface="Garet Bold"/>
                <a:ea typeface="Garet Bold"/>
                <a:cs typeface="Garet Bold"/>
                <a:sym typeface="Garet Bold"/>
              </a:rPr>
              <a:t>nterpretasi: </a:t>
            </a:r>
          </a:p>
          <a:p>
            <a:pPr algn="just" marL="453395" indent="-226697" lvl="1">
              <a:lnSpc>
                <a:spcPts val="2940"/>
              </a:lnSpc>
              <a:buFont typeface="Arial"/>
              <a:buChar char="•"/>
            </a:pPr>
            <a:r>
              <a:rPr lang="en-US" sz="2100">
                <a:solidFill>
                  <a:srgbClr val="000000"/>
                </a:solidFill>
                <a:latin typeface="Garet"/>
                <a:ea typeface="Garet"/>
                <a:cs typeface="Garet"/>
                <a:sym typeface="Garet"/>
              </a:rPr>
              <a:t>Tantangan Distraksi Digital Tinggi: Mayoritas responden yang sulit mengontrol gawai (menjawab "Tidak") mengindikasikan tingginya kerentanan terhadap distraksi digital, seperti dorongan impulsif membuka media sosial atau game saat belajar.</a:t>
            </a:r>
          </a:p>
          <a:p>
            <a:pPr algn="just" marL="453395" indent="-226697" lvl="1">
              <a:lnSpc>
                <a:spcPts val="2940"/>
              </a:lnSpc>
              <a:buFont typeface="Arial"/>
              <a:buChar char="•"/>
            </a:pPr>
            <a:r>
              <a:rPr lang="en-US" sz="2100">
                <a:solidFill>
                  <a:srgbClr val="000000"/>
                </a:solidFill>
                <a:latin typeface="Garet"/>
                <a:ea typeface="Garet"/>
                <a:cs typeface="Garet"/>
                <a:sym typeface="Garet"/>
              </a:rPr>
              <a:t>Tingkat Regulasi Diri yang Kuat: Sebagian responden yang mampu mengontrol gawai (menjawab "Ya") menunjukkan kelompok mahasiswa yang memiliki digital self-regulation yang baik dalam membatasi diri dan menjaga fokus dari godaan gawai.</a:t>
            </a:r>
          </a:p>
          <a:p>
            <a:pPr algn="just" marL="453395" indent="-226697" lvl="1">
              <a:lnSpc>
                <a:spcPts val="2940"/>
              </a:lnSpc>
              <a:buFont typeface="Arial"/>
              <a:buChar char="•"/>
            </a:pPr>
            <a:r>
              <a:rPr lang="en-US" sz="2100">
                <a:solidFill>
                  <a:srgbClr val="000000"/>
                </a:solidFill>
                <a:latin typeface="Garet"/>
                <a:ea typeface="Garet"/>
                <a:cs typeface="Garet"/>
                <a:sym typeface="Garet"/>
              </a:rPr>
              <a:t>Implikasi ke Efisiensi Belajar: Lemahnya kontrol gawai memecah konsentrasi mendalam (deep work) yang dibutuhkan untuk tugas berat seperti coding atau hitungan, sehingga membuat waktu belajar terasa habis sia-sia dan tidak efektif.</a:t>
            </a:r>
          </a:p>
          <a:p>
            <a:pPr algn="just">
              <a:lnSpc>
                <a:spcPts val="2940"/>
              </a:lnSpc>
            </a:pPr>
          </a:p>
        </p:txBody>
      </p:sp>
      <p:sp>
        <p:nvSpPr>
          <p:cNvPr name="TextBox 11" id="11"/>
          <p:cNvSpPr txBox="true"/>
          <p:nvPr/>
        </p:nvSpPr>
        <p:spPr>
          <a:xfrm rot="0">
            <a:off x="11153710" y="51488"/>
            <a:ext cx="7895771" cy="669925"/>
          </a:xfrm>
          <a:prstGeom prst="rect">
            <a:avLst/>
          </a:prstGeom>
        </p:spPr>
        <p:txBody>
          <a:bodyPr anchor="t" rtlCol="false" tIns="0" lIns="0" bIns="0" rIns="0">
            <a:spAutoFit/>
          </a:bodyPr>
          <a:lstStyle/>
          <a:p>
            <a:pPr algn="ctr">
              <a:lnSpc>
                <a:spcPts val="5599"/>
              </a:lnSpc>
            </a:pPr>
            <a:r>
              <a:rPr lang="en-US" b="true" sz="3999">
                <a:solidFill>
                  <a:srgbClr val="FBFBFB"/>
                </a:solidFill>
                <a:latin typeface="Garet Bold"/>
                <a:ea typeface="Garet Bold"/>
                <a:cs typeface="Garet Bold"/>
                <a:sym typeface="Garet Bold"/>
              </a:rPr>
              <a:t>Visualisasi</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124893" y="3663950"/>
            <a:ext cx="10038214" cy="1377949"/>
          </a:xfrm>
          <a:prstGeom prst="rect">
            <a:avLst/>
          </a:prstGeom>
        </p:spPr>
        <p:txBody>
          <a:bodyPr anchor="t" rtlCol="false" tIns="0" lIns="0" bIns="0" rIns="0">
            <a:spAutoFit/>
          </a:bodyPr>
          <a:lstStyle/>
          <a:p>
            <a:pPr algn="ctr">
              <a:lnSpc>
                <a:spcPts val="11200"/>
              </a:lnSpc>
            </a:pPr>
            <a:r>
              <a:rPr lang="en-US" sz="8000">
                <a:solidFill>
                  <a:srgbClr val="0D0F68"/>
                </a:solidFill>
                <a:latin typeface="Yeseva One"/>
                <a:ea typeface="Yeseva One"/>
                <a:cs typeface="Yeseva One"/>
                <a:sym typeface="Yeseva One"/>
              </a:rPr>
              <a:t>Appendix</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44717" y="419788"/>
            <a:ext cx="17428933" cy="9641137"/>
            <a:chOff x="0" y="0"/>
            <a:chExt cx="4590336" cy="2539229"/>
          </a:xfrm>
        </p:grpSpPr>
        <p:sp>
          <p:nvSpPr>
            <p:cNvPr name="Freeform 4" id="4"/>
            <p:cNvSpPr/>
            <p:nvPr/>
          </p:nvSpPr>
          <p:spPr>
            <a:xfrm flipH="false" flipV="false" rot="0">
              <a:off x="0" y="0"/>
              <a:ext cx="4590336" cy="2539230"/>
            </a:xfrm>
            <a:custGeom>
              <a:avLst/>
              <a:gdLst/>
              <a:ahLst/>
              <a:cxnLst/>
              <a:rect r="r" b="b" t="t" l="l"/>
              <a:pathLst>
                <a:path h="2539230" w="4590336">
                  <a:moveTo>
                    <a:pt x="22654" y="0"/>
                  </a:moveTo>
                  <a:lnTo>
                    <a:pt x="4567682" y="0"/>
                  </a:lnTo>
                  <a:cubicBezTo>
                    <a:pt x="4573691" y="0"/>
                    <a:pt x="4579453" y="2387"/>
                    <a:pt x="4583701" y="6635"/>
                  </a:cubicBezTo>
                  <a:cubicBezTo>
                    <a:pt x="4587950" y="10884"/>
                    <a:pt x="4590336" y="16646"/>
                    <a:pt x="4590336" y="22654"/>
                  </a:cubicBezTo>
                  <a:lnTo>
                    <a:pt x="4590336" y="2516575"/>
                  </a:lnTo>
                  <a:cubicBezTo>
                    <a:pt x="4590336" y="2522584"/>
                    <a:pt x="4587950" y="2528346"/>
                    <a:pt x="4583701" y="2532594"/>
                  </a:cubicBezTo>
                  <a:cubicBezTo>
                    <a:pt x="4579453" y="2536843"/>
                    <a:pt x="4573691" y="2539230"/>
                    <a:pt x="4567682" y="2539230"/>
                  </a:cubicBezTo>
                  <a:lnTo>
                    <a:pt x="22654" y="2539230"/>
                  </a:lnTo>
                  <a:cubicBezTo>
                    <a:pt x="16646" y="2539230"/>
                    <a:pt x="10884" y="2536843"/>
                    <a:pt x="6635" y="2532594"/>
                  </a:cubicBezTo>
                  <a:cubicBezTo>
                    <a:pt x="2387" y="2528346"/>
                    <a:pt x="0" y="2522584"/>
                    <a:pt x="0" y="2516575"/>
                  </a:cubicBezTo>
                  <a:lnTo>
                    <a:pt x="0" y="22654"/>
                  </a:lnTo>
                  <a:cubicBezTo>
                    <a:pt x="0" y="16646"/>
                    <a:pt x="2387" y="10884"/>
                    <a:pt x="6635" y="6635"/>
                  </a:cubicBezTo>
                  <a:cubicBezTo>
                    <a:pt x="10884" y="2387"/>
                    <a:pt x="16646" y="0"/>
                    <a:pt x="22654" y="0"/>
                  </a:cubicBezTo>
                  <a:close/>
                </a:path>
              </a:pathLst>
            </a:custGeom>
            <a:solidFill>
              <a:srgbClr val="FBFBFB">
                <a:alpha val="89804"/>
              </a:srgbClr>
            </a:solidFill>
          </p:spPr>
        </p:sp>
        <p:sp>
          <p:nvSpPr>
            <p:cNvPr name="TextBox 5" id="5"/>
            <p:cNvSpPr txBox="true"/>
            <p:nvPr/>
          </p:nvSpPr>
          <p:spPr>
            <a:xfrm>
              <a:off x="0" y="-38100"/>
              <a:ext cx="4590336" cy="257732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519768" y="-189123"/>
            <a:ext cx="7163655" cy="910537"/>
            <a:chOff x="0" y="0"/>
            <a:chExt cx="1886724" cy="239812"/>
          </a:xfrm>
        </p:grpSpPr>
        <p:sp>
          <p:nvSpPr>
            <p:cNvPr name="Freeform 7" id="7"/>
            <p:cNvSpPr/>
            <p:nvPr/>
          </p:nvSpPr>
          <p:spPr>
            <a:xfrm flipH="false" flipV="false" rot="0">
              <a:off x="0" y="0"/>
              <a:ext cx="1886724" cy="239812"/>
            </a:xfrm>
            <a:custGeom>
              <a:avLst/>
              <a:gdLst/>
              <a:ahLst/>
              <a:cxnLst/>
              <a:rect r="r" b="b" t="t" l="l"/>
              <a:pathLst>
                <a:path h="239812" w="1886724">
                  <a:moveTo>
                    <a:pt x="55117" y="0"/>
                  </a:moveTo>
                  <a:lnTo>
                    <a:pt x="1831607" y="0"/>
                  </a:lnTo>
                  <a:cubicBezTo>
                    <a:pt x="1862047" y="0"/>
                    <a:pt x="1886724" y="24677"/>
                    <a:pt x="1886724" y="55117"/>
                  </a:cubicBezTo>
                  <a:lnTo>
                    <a:pt x="1886724" y="184695"/>
                  </a:lnTo>
                  <a:cubicBezTo>
                    <a:pt x="1886724" y="199313"/>
                    <a:pt x="1880917" y="213332"/>
                    <a:pt x="1870581" y="223669"/>
                  </a:cubicBezTo>
                  <a:cubicBezTo>
                    <a:pt x="1860244" y="234005"/>
                    <a:pt x="1846225" y="239812"/>
                    <a:pt x="1831607" y="239812"/>
                  </a:cubicBezTo>
                  <a:lnTo>
                    <a:pt x="55117" y="239812"/>
                  </a:lnTo>
                  <a:cubicBezTo>
                    <a:pt x="24677" y="239812"/>
                    <a:pt x="0" y="215135"/>
                    <a:pt x="0" y="184695"/>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27791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3590756" y="1028700"/>
            <a:ext cx="11106488" cy="4568190"/>
          </a:xfrm>
          <a:custGeom>
            <a:avLst/>
            <a:gdLst/>
            <a:ahLst/>
            <a:cxnLst/>
            <a:rect r="r" b="b" t="t" l="l"/>
            <a:pathLst>
              <a:path h="4568190" w="11106488">
                <a:moveTo>
                  <a:pt x="0" y="0"/>
                </a:moveTo>
                <a:lnTo>
                  <a:pt x="11106488" y="0"/>
                </a:lnTo>
                <a:lnTo>
                  <a:pt x="11106488" y="4568190"/>
                </a:lnTo>
                <a:lnTo>
                  <a:pt x="0" y="4568190"/>
                </a:lnTo>
                <a:lnTo>
                  <a:pt x="0" y="0"/>
                </a:lnTo>
                <a:close/>
              </a:path>
            </a:pathLst>
          </a:custGeom>
          <a:blipFill>
            <a:blip r:embed="rId3"/>
            <a:stretch>
              <a:fillRect l="-338" t="-6157" r="-298" b="0"/>
            </a:stretch>
          </a:blipFill>
        </p:spPr>
      </p:sp>
      <p:sp>
        <p:nvSpPr>
          <p:cNvPr name="TextBox 10" id="10"/>
          <p:cNvSpPr txBox="true"/>
          <p:nvPr/>
        </p:nvSpPr>
        <p:spPr>
          <a:xfrm rot="0">
            <a:off x="1028700" y="5549265"/>
            <a:ext cx="16230600" cy="3709035"/>
          </a:xfrm>
          <a:prstGeom prst="rect">
            <a:avLst/>
          </a:prstGeom>
        </p:spPr>
        <p:txBody>
          <a:bodyPr anchor="t" rtlCol="false" tIns="0" lIns="0" bIns="0" rIns="0">
            <a:spAutoFit/>
          </a:bodyPr>
          <a:lstStyle/>
          <a:p>
            <a:pPr algn="just">
              <a:lnSpc>
                <a:spcPts val="2940"/>
              </a:lnSpc>
            </a:pPr>
            <a:r>
              <a:rPr lang="en-US" sz="2100">
                <a:solidFill>
                  <a:srgbClr val="000000"/>
                </a:solidFill>
                <a:latin typeface="Garet"/>
                <a:ea typeface="Garet"/>
                <a:cs typeface="Garet"/>
                <a:sym typeface="Garet"/>
              </a:rPr>
              <a:t>I</a:t>
            </a:r>
            <a:r>
              <a:rPr lang="en-US" sz="2100" b="true">
                <a:solidFill>
                  <a:srgbClr val="000000"/>
                </a:solidFill>
                <a:latin typeface="Garet Bold"/>
                <a:ea typeface="Garet Bold"/>
                <a:cs typeface="Garet Bold"/>
                <a:sym typeface="Garet Bold"/>
              </a:rPr>
              <a:t>nterpretasi: </a:t>
            </a:r>
          </a:p>
          <a:p>
            <a:pPr algn="just" marL="453390" indent="-226695" lvl="1">
              <a:lnSpc>
                <a:spcPts val="2940"/>
              </a:lnSpc>
              <a:buFont typeface="Arial"/>
              <a:buChar char="•"/>
            </a:pPr>
            <a:r>
              <a:rPr lang="en-US" sz="2100">
                <a:solidFill>
                  <a:srgbClr val="000000"/>
                </a:solidFill>
                <a:latin typeface="Garet"/>
                <a:ea typeface="Garet"/>
                <a:cs typeface="Garet"/>
                <a:sym typeface="Garet"/>
              </a:rPr>
              <a:t>Optimalisasi Fungsi Kognitif: Perbedaan paling signifikan terlihat pada fokus jangka panjang, daya ingat, dan pemahaman materi. Tidur ideal (7–8 jam) mengoptimalkan konsolidasi memori, sedangkan kurang tidur memicu kelelahan mental (cognitive fatigue) yang menghambat daya serap.</a:t>
            </a:r>
          </a:p>
          <a:p>
            <a:pPr algn="just" marL="453390" indent="-226695" lvl="1">
              <a:lnSpc>
                <a:spcPts val="2940"/>
              </a:lnSpc>
              <a:buFont typeface="Arial"/>
              <a:buChar char="•"/>
            </a:pPr>
            <a:r>
              <a:rPr lang="en-US" sz="2100">
                <a:solidFill>
                  <a:srgbClr val="000000"/>
                </a:solidFill>
                <a:latin typeface="Garet"/>
                <a:ea typeface="Garet"/>
                <a:cs typeface="Garet"/>
                <a:sym typeface="Garet"/>
              </a:rPr>
              <a:t>Efisiensi Manajemen Waktu: Mahasiswa dengan istirahat baik unggul dalam efektivitas waktu dan konsistensi belajar. Energi fisik yang prima meminimalisasi prokrastinasi, sehingga tugas perkuliahan diselesaikan dengan tingkat kesulitan yang lebih rendah.</a:t>
            </a:r>
          </a:p>
          <a:p>
            <a:pPr algn="just" marL="453390" indent="-226695" lvl="1">
              <a:lnSpc>
                <a:spcPts val="2940"/>
              </a:lnSpc>
              <a:buFont typeface="Arial"/>
              <a:buChar char="•"/>
            </a:pPr>
            <a:r>
              <a:rPr lang="en-US" sz="2100">
                <a:solidFill>
                  <a:srgbClr val="000000"/>
                </a:solidFill>
                <a:latin typeface="Garet"/>
                <a:ea typeface="Garet"/>
                <a:cs typeface="Garet"/>
                <a:sym typeface="Garet"/>
              </a:rPr>
              <a:t>Partisipasi Aktif di Kelas: Kesiapan energi berbanding lurus dengan keterlibatan akademik. Mahasiswa yang cukup istirahat jauh lebih aktif bertanya dan berdiskusi, sementara kelompok defisit tidur cenderung pasif akibat kantuk (somnolen) di kelas.</a:t>
            </a:r>
          </a:p>
        </p:txBody>
      </p:sp>
      <p:sp>
        <p:nvSpPr>
          <p:cNvPr name="TextBox 11" id="11"/>
          <p:cNvSpPr txBox="true"/>
          <p:nvPr/>
        </p:nvSpPr>
        <p:spPr>
          <a:xfrm rot="0">
            <a:off x="11153710" y="51488"/>
            <a:ext cx="7895771" cy="669925"/>
          </a:xfrm>
          <a:prstGeom prst="rect">
            <a:avLst/>
          </a:prstGeom>
        </p:spPr>
        <p:txBody>
          <a:bodyPr anchor="t" rtlCol="false" tIns="0" lIns="0" bIns="0" rIns="0">
            <a:spAutoFit/>
          </a:bodyPr>
          <a:lstStyle/>
          <a:p>
            <a:pPr algn="ctr">
              <a:lnSpc>
                <a:spcPts val="5599"/>
              </a:lnSpc>
            </a:pPr>
            <a:r>
              <a:rPr lang="en-US" b="true" sz="3999">
                <a:solidFill>
                  <a:srgbClr val="FBFBFB"/>
                </a:solidFill>
                <a:latin typeface="Garet Bold"/>
                <a:ea typeface="Garet Bold"/>
                <a:cs typeface="Garet Bold"/>
                <a:sym typeface="Garet Bold"/>
              </a:rPr>
              <a:t>Visualisasi</a:t>
            </a:r>
          </a:p>
        </p:txBody>
      </p:sp>
    </p:spTree>
  </p:cSld>
  <p:clrMapOvr>
    <a:masterClrMapping/>
  </p:clrMapOvr>
  <p:transition spd="fast">
    <p:wipe dir="l"/>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44717" y="419788"/>
            <a:ext cx="17160817" cy="9248901"/>
            <a:chOff x="0" y="0"/>
            <a:chExt cx="4519721" cy="2435925"/>
          </a:xfrm>
        </p:grpSpPr>
        <p:sp>
          <p:nvSpPr>
            <p:cNvPr name="Freeform 4" id="4"/>
            <p:cNvSpPr/>
            <p:nvPr/>
          </p:nvSpPr>
          <p:spPr>
            <a:xfrm flipH="false" flipV="false" rot="0">
              <a:off x="0" y="0"/>
              <a:ext cx="4519721" cy="2435925"/>
            </a:xfrm>
            <a:custGeom>
              <a:avLst/>
              <a:gdLst/>
              <a:ahLst/>
              <a:cxnLst/>
              <a:rect r="r" b="b" t="t" l="l"/>
              <a:pathLst>
                <a:path h="2435925" w="4519721">
                  <a:moveTo>
                    <a:pt x="23008" y="0"/>
                  </a:moveTo>
                  <a:lnTo>
                    <a:pt x="4496713" y="0"/>
                  </a:lnTo>
                  <a:cubicBezTo>
                    <a:pt x="4509420" y="0"/>
                    <a:pt x="4519721" y="10301"/>
                    <a:pt x="4519721" y="23008"/>
                  </a:cubicBezTo>
                  <a:lnTo>
                    <a:pt x="4519721" y="2412916"/>
                  </a:lnTo>
                  <a:cubicBezTo>
                    <a:pt x="4519721" y="2425623"/>
                    <a:pt x="4509420" y="2435925"/>
                    <a:pt x="4496713" y="2435925"/>
                  </a:cubicBezTo>
                  <a:lnTo>
                    <a:pt x="23008" y="2435925"/>
                  </a:lnTo>
                  <a:cubicBezTo>
                    <a:pt x="10301" y="2435925"/>
                    <a:pt x="0" y="2425623"/>
                    <a:pt x="0" y="2412916"/>
                  </a:cubicBezTo>
                  <a:lnTo>
                    <a:pt x="0" y="23008"/>
                  </a:lnTo>
                  <a:cubicBezTo>
                    <a:pt x="0" y="10301"/>
                    <a:pt x="10301" y="0"/>
                    <a:pt x="23008" y="0"/>
                  </a:cubicBezTo>
                  <a:close/>
                </a:path>
              </a:pathLst>
            </a:custGeom>
            <a:solidFill>
              <a:srgbClr val="FBFBFB">
                <a:alpha val="89804"/>
              </a:srgbClr>
            </a:solidFill>
          </p:spPr>
        </p:sp>
        <p:sp>
          <p:nvSpPr>
            <p:cNvPr name="TextBox 5" id="5"/>
            <p:cNvSpPr txBox="true"/>
            <p:nvPr/>
          </p:nvSpPr>
          <p:spPr>
            <a:xfrm>
              <a:off x="0" y="-38100"/>
              <a:ext cx="4519721" cy="24740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519768" y="-189123"/>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3039663" y="1114982"/>
            <a:ext cx="11770925" cy="4708370"/>
          </a:xfrm>
          <a:custGeom>
            <a:avLst/>
            <a:gdLst/>
            <a:ahLst/>
            <a:cxnLst/>
            <a:rect r="r" b="b" t="t" l="l"/>
            <a:pathLst>
              <a:path h="4708370" w="11770925">
                <a:moveTo>
                  <a:pt x="0" y="0"/>
                </a:moveTo>
                <a:lnTo>
                  <a:pt x="11770925" y="0"/>
                </a:lnTo>
                <a:lnTo>
                  <a:pt x="11770925" y="4708370"/>
                </a:lnTo>
                <a:lnTo>
                  <a:pt x="0" y="4708370"/>
                </a:lnTo>
                <a:lnTo>
                  <a:pt x="0" y="0"/>
                </a:lnTo>
                <a:close/>
              </a:path>
            </a:pathLst>
          </a:custGeom>
          <a:blipFill>
            <a:blip r:embed="rId3"/>
            <a:stretch>
              <a:fillRect l="0" t="0" r="0" b="0"/>
            </a:stretch>
          </a:blipFill>
        </p:spPr>
      </p:sp>
      <p:sp>
        <p:nvSpPr>
          <p:cNvPr name="TextBox 10" id="10"/>
          <p:cNvSpPr txBox="true"/>
          <p:nvPr/>
        </p:nvSpPr>
        <p:spPr>
          <a:xfrm rot="0">
            <a:off x="1028700" y="5862008"/>
            <a:ext cx="16230600" cy="3337559"/>
          </a:xfrm>
          <a:prstGeom prst="rect">
            <a:avLst/>
          </a:prstGeom>
        </p:spPr>
        <p:txBody>
          <a:bodyPr anchor="t" rtlCol="false" tIns="0" lIns="0" bIns="0" rIns="0">
            <a:spAutoFit/>
          </a:bodyPr>
          <a:lstStyle/>
          <a:p>
            <a:pPr algn="just">
              <a:lnSpc>
                <a:spcPts val="2940"/>
              </a:lnSpc>
            </a:pPr>
            <a:r>
              <a:rPr lang="en-US" sz="2100">
                <a:solidFill>
                  <a:srgbClr val="000000"/>
                </a:solidFill>
                <a:latin typeface="Garet"/>
                <a:ea typeface="Garet"/>
                <a:cs typeface="Garet"/>
                <a:sym typeface="Garet"/>
              </a:rPr>
              <a:t>I</a:t>
            </a:r>
            <a:r>
              <a:rPr lang="en-US" sz="2100" b="true">
                <a:solidFill>
                  <a:srgbClr val="000000"/>
                </a:solidFill>
                <a:latin typeface="Garet Bold"/>
                <a:ea typeface="Garet Bold"/>
                <a:cs typeface="Garet Bold"/>
                <a:sym typeface="Garet Bold"/>
              </a:rPr>
              <a:t>nterpretasi: </a:t>
            </a:r>
          </a:p>
          <a:p>
            <a:pPr algn="just" marL="453395" indent="-226697" lvl="1">
              <a:lnSpc>
                <a:spcPts val="2940"/>
              </a:lnSpc>
              <a:buFont typeface="Arial"/>
              <a:buChar char="•"/>
            </a:pPr>
            <a:r>
              <a:rPr lang="en-US" sz="2100">
                <a:solidFill>
                  <a:srgbClr val="000000"/>
                </a:solidFill>
                <a:latin typeface="Garet"/>
                <a:ea typeface="Garet"/>
                <a:cs typeface="Garet"/>
                <a:sym typeface="Garet"/>
              </a:rPr>
              <a:t>Fokus Terfragmentasi: Mahasiswa dengan kontrol gawai yang kurang mengalami penurunan drastis pada konsentrasi lama dan daya ingat. Notifikasi konstan memicu cognitive switching cost yang memecah perhatian (fragmented attention) dan menghambat memori jangka panjang.</a:t>
            </a:r>
          </a:p>
          <a:p>
            <a:pPr algn="just" marL="453395" indent="-226697" lvl="1">
              <a:lnSpc>
                <a:spcPts val="2940"/>
              </a:lnSpc>
              <a:buFont typeface="Arial"/>
              <a:buChar char="•"/>
            </a:pPr>
            <a:r>
              <a:rPr lang="en-US" sz="2100">
                <a:solidFill>
                  <a:srgbClr val="000000"/>
                </a:solidFill>
                <a:latin typeface="Garet"/>
                <a:ea typeface="Garet"/>
                <a:cs typeface="Garet"/>
                <a:sym typeface="Garet"/>
              </a:rPr>
              <a:t>Pemborosan Waktu Belajar: Kelompok yang ser</a:t>
            </a:r>
            <a:r>
              <a:rPr lang="en-US" sz="2100">
                <a:solidFill>
                  <a:srgbClr val="000000"/>
                </a:solidFill>
                <a:latin typeface="Garet"/>
                <a:ea typeface="Garet"/>
                <a:cs typeface="Garet"/>
                <a:sym typeface="Garet"/>
              </a:rPr>
              <a:t>i</a:t>
            </a:r>
            <a:r>
              <a:rPr lang="en-US" sz="2100">
                <a:solidFill>
                  <a:srgbClr val="000000"/>
                </a:solidFill>
                <a:latin typeface="Garet"/>
                <a:ea typeface="Garet"/>
                <a:cs typeface="Garet"/>
                <a:sym typeface="Garet"/>
              </a:rPr>
              <a:t>ng ter</a:t>
            </a:r>
            <a:r>
              <a:rPr lang="en-US" sz="2100">
                <a:solidFill>
                  <a:srgbClr val="000000"/>
                </a:solidFill>
                <a:latin typeface="Garet"/>
                <a:ea typeface="Garet"/>
                <a:cs typeface="Garet"/>
                <a:sym typeface="Garet"/>
              </a:rPr>
              <a:t>d</a:t>
            </a:r>
            <a:r>
              <a:rPr lang="en-US" sz="2100">
                <a:solidFill>
                  <a:srgbClr val="000000"/>
                </a:solidFill>
                <a:latin typeface="Garet"/>
                <a:ea typeface="Garet"/>
                <a:cs typeface="Garet"/>
                <a:sym typeface="Garet"/>
              </a:rPr>
              <a:t>istr</a:t>
            </a:r>
            <a:r>
              <a:rPr lang="en-US" sz="2100">
                <a:solidFill>
                  <a:srgbClr val="000000"/>
                </a:solidFill>
                <a:latin typeface="Garet"/>
                <a:ea typeface="Garet"/>
                <a:cs typeface="Garet"/>
                <a:sym typeface="Garet"/>
              </a:rPr>
              <a:t>ak</a:t>
            </a:r>
            <a:r>
              <a:rPr lang="en-US" sz="2100">
                <a:solidFill>
                  <a:srgbClr val="000000"/>
                </a:solidFill>
                <a:latin typeface="Garet"/>
                <a:ea typeface="Garet"/>
                <a:cs typeface="Garet"/>
                <a:sym typeface="Garet"/>
              </a:rPr>
              <a:t>si merasa waktu belajar tidak efektif dan tugas terasa jauh lebih sulit. Hal ini terjadi karena proses berpikir logis sering terputus di tengah jalan akibat gangguan gawai.</a:t>
            </a:r>
          </a:p>
          <a:p>
            <a:pPr algn="just" marL="453395" indent="-226697" lvl="1">
              <a:lnSpc>
                <a:spcPts val="2940"/>
              </a:lnSpc>
              <a:buFont typeface="Arial"/>
              <a:buChar char="•"/>
            </a:pPr>
            <a:r>
              <a:rPr lang="en-US" sz="2100">
                <a:solidFill>
                  <a:srgbClr val="000000"/>
                </a:solidFill>
                <a:latin typeface="Garet"/>
                <a:ea typeface="Garet"/>
                <a:cs typeface="Garet"/>
                <a:sym typeface="Garet"/>
              </a:rPr>
              <a:t>Proses Belajar Berantakan: Lemahnya kontrol gawai membuat manajemen belajar menjadi impulsif dan tidak terarah. Waktu yang habis untuk scrolling tanpa sadar mengganggu perencanaan dan konsistensi belajar, sehingga hasil akademik tidak maksimal.</a:t>
            </a:r>
          </a:p>
        </p:txBody>
      </p:sp>
      <p:sp>
        <p:nvSpPr>
          <p:cNvPr name="TextBox 11" id="11"/>
          <p:cNvSpPr txBox="true"/>
          <p:nvPr/>
        </p:nvSpPr>
        <p:spPr>
          <a:xfrm rot="0">
            <a:off x="11153710" y="51488"/>
            <a:ext cx="7895771" cy="669925"/>
          </a:xfrm>
          <a:prstGeom prst="rect">
            <a:avLst/>
          </a:prstGeom>
        </p:spPr>
        <p:txBody>
          <a:bodyPr anchor="t" rtlCol="false" tIns="0" lIns="0" bIns="0" rIns="0">
            <a:spAutoFit/>
          </a:bodyPr>
          <a:lstStyle/>
          <a:p>
            <a:pPr algn="ctr">
              <a:lnSpc>
                <a:spcPts val="5599"/>
              </a:lnSpc>
            </a:pPr>
            <a:r>
              <a:rPr lang="en-US" b="true" sz="3999">
                <a:solidFill>
                  <a:srgbClr val="FBFBFB"/>
                </a:solidFill>
                <a:latin typeface="Garet Bold"/>
                <a:ea typeface="Garet Bold"/>
                <a:cs typeface="Garet Bold"/>
                <a:sym typeface="Garet Bold"/>
              </a:rPr>
              <a:t>Visualisasi</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44717" y="419788"/>
            <a:ext cx="17160817" cy="9248901"/>
            <a:chOff x="0" y="0"/>
            <a:chExt cx="4519721" cy="2435925"/>
          </a:xfrm>
        </p:grpSpPr>
        <p:sp>
          <p:nvSpPr>
            <p:cNvPr name="Freeform 4" id="4"/>
            <p:cNvSpPr/>
            <p:nvPr/>
          </p:nvSpPr>
          <p:spPr>
            <a:xfrm flipH="false" flipV="false" rot="0">
              <a:off x="0" y="0"/>
              <a:ext cx="4519721" cy="2435925"/>
            </a:xfrm>
            <a:custGeom>
              <a:avLst/>
              <a:gdLst/>
              <a:ahLst/>
              <a:cxnLst/>
              <a:rect r="r" b="b" t="t" l="l"/>
              <a:pathLst>
                <a:path h="2435925" w="4519721">
                  <a:moveTo>
                    <a:pt x="23008" y="0"/>
                  </a:moveTo>
                  <a:lnTo>
                    <a:pt x="4496713" y="0"/>
                  </a:lnTo>
                  <a:cubicBezTo>
                    <a:pt x="4509420" y="0"/>
                    <a:pt x="4519721" y="10301"/>
                    <a:pt x="4519721" y="23008"/>
                  </a:cubicBezTo>
                  <a:lnTo>
                    <a:pt x="4519721" y="2412916"/>
                  </a:lnTo>
                  <a:cubicBezTo>
                    <a:pt x="4519721" y="2425623"/>
                    <a:pt x="4509420" y="2435925"/>
                    <a:pt x="4496713" y="2435925"/>
                  </a:cubicBezTo>
                  <a:lnTo>
                    <a:pt x="23008" y="2435925"/>
                  </a:lnTo>
                  <a:cubicBezTo>
                    <a:pt x="10301" y="2435925"/>
                    <a:pt x="0" y="2425623"/>
                    <a:pt x="0" y="2412916"/>
                  </a:cubicBezTo>
                  <a:lnTo>
                    <a:pt x="0" y="23008"/>
                  </a:lnTo>
                  <a:cubicBezTo>
                    <a:pt x="0" y="10301"/>
                    <a:pt x="10301" y="0"/>
                    <a:pt x="23008" y="0"/>
                  </a:cubicBezTo>
                  <a:close/>
                </a:path>
              </a:pathLst>
            </a:custGeom>
            <a:solidFill>
              <a:srgbClr val="FBFBFB">
                <a:alpha val="89804"/>
              </a:srgbClr>
            </a:solidFill>
          </p:spPr>
        </p:sp>
        <p:sp>
          <p:nvSpPr>
            <p:cNvPr name="TextBox 5" id="5"/>
            <p:cNvSpPr txBox="true"/>
            <p:nvPr/>
          </p:nvSpPr>
          <p:spPr>
            <a:xfrm>
              <a:off x="0" y="-38100"/>
              <a:ext cx="4519721" cy="24740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519768" y="-189123"/>
            <a:ext cx="7163655" cy="1217823"/>
            <a:chOff x="0" y="0"/>
            <a:chExt cx="1886724" cy="320744"/>
          </a:xfrm>
        </p:grpSpPr>
        <p:sp>
          <p:nvSpPr>
            <p:cNvPr name="Freeform 7" id="7"/>
            <p:cNvSpPr/>
            <p:nvPr/>
          </p:nvSpPr>
          <p:spPr>
            <a:xfrm flipH="false" flipV="false" rot="0">
              <a:off x="0" y="0"/>
              <a:ext cx="1886724" cy="320744"/>
            </a:xfrm>
            <a:custGeom>
              <a:avLst/>
              <a:gdLst/>
              <a:ahLst/>
              <a:cxnLst/>
              <a:rect r="r" b="b" t="t" l="l"/>
              <a:pathLst>
                <a:path h="320744" w="1886724">
                  <a:moveTo>
                    <a:pt x="55117" y="0"/>
                  </a:moveTo>
                  <a:lnTo>
                    <a:pt x="1831607" y="0"/>
                  </a:lnTo>
                  <a:cubicBezTo>
                    <a:pt x="1862047" y="0"/>
                    <a:pt x="1886724" y="24677"/>
                    <a:pt x="1886724" y="55117"/>
                  </a:cubicBezTo>
                  <a:lnTo>
                    <a:pt x="1886724" y="265627"/>
                  </a:lnTo>
                  <a:cubicBezTo>
                    <a:pt x="1886724" y="280245"/>
                    <a:pt x="1880917" y="294264"/>
                    <a:pt x="1870581" y="304600"/>
                  </a:cubicBezTo>
                  <a:cubicBezTo>
                    <a:pt x="1860244" y="314937"/>
                    <a:pt x="1846225" y="320744"/>
                    <a:pt x="1831607" y="320744"/>
                  </a:cubicBezTo>
                  <a:lnTo>
                    <a:pt x="55117" y="320744"/>
                  </a:lnTo>
                  <a:cubicBezTo>
                    <a:pt x="40499" y="320744"/>
                    <a:pt x="26480" y="314937"/>
                    <a:pt x="16143" y="304600"/>
                  </a:cubicBezTo>
                  <a:cubicBezTo>
                    <a:pt x="5807" y="294264"/>
                    <a:pt x="0" y="280245"/>
                    <a:pt x="0" y="265627"/>
                  </a:cubicBezTo>
                  <a:lnTo>
                    <a:pt x="0" y="55117"/>
                  </a:lnTo>
                  <a:cubicBezTo>
                    <a:pt x="0" y="40499"/>
                    <a:pt x="5807" y="26480"/>
                    <a:pt x="16143" y="16143"/>
                  </a:cubicBezTo>
                  <a:cubicBezTo>
                    <a:pt x="26480" y="5807"/>
                    <a:pt x="40499" y="0"/>
                    <a:pt x="55117" y="0"/>
                  </a:cubicBezTo>
                  <a:close/>
                </a:path>
              </a:pathLst>
            </a:custGeom>
            <a:solidFill>
              <a:srgbClr val="0D0F68"/>
            </a:solidFill>
          </p:spPr>
        </p:sp>
        <p:sp>
          <p:nvSpPr>
            <p:cNvPr name="TextBox 8" id="8"/>
            <p:cNvSpPr txBox="true"/>
            <p:nvPr/>
          </p:nvSpPr>
          <p:spPr>
            <a:xfrm>
              <a:off x="0" y="-38100"/>
              <a:ext cx="1886724" cy="35884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4384465" y="1332052"/>
            <a:ext cx="9519070" cy="4130048"/>
          </a:xfrm>
          <a:custGeom>
            <a:avLst/>
            <a:gdLst/>
            <a:ahLst/>
            <a:cxnLst/>
            <a:rect r="r" b="b" t="t" l="l"/>
            <a:pathLst>
              <a:path h="4130048" w="9519070">
                <a:moveTo>
                  <a:pt x="0" y="0"/>
                </a:moveTo>
                <a:lnTo>
                  <a:pt x="9519070" y="0"/>
                </a:lnTo>
                <a:lnTo>
                  <a:pt x="9519070" y="4130048"/>
                </a:lnTo>
                <a:lnTo>
                  <a:pt x="0" y="4130048"/>
                </a:lnTo>
                <a:lnTo>
                  <a:pt x="0" y="0"/>
                </a:lnTo>
                <a:close/>
              </a:path>
            </a:pathLst>
          </a:custGeom>
          <a:blipFill>
            <a:blip r:embed="rId3"/>
            <a:stretch>
              <a:fillRect l="0" t="0" r="0" b="0"/>
            </a:stretch>
          </a:blipFill>
        </p:spPr>
      </p:sp>
      <p:sp>
        <p:nvSpPr>
          <p:cNvPr name="TextBox 10" id="10"/>
          <p:cNvSpPr txBox="true"/>
          <p:nvPr/>
        </p:nvSpPr>
        <p:spPr>
          <a:xfrm rot="0">
            <a:off x="1028700" y="5549266"/>
            <a:ext cx="16230600" cy="3709034"/>
          </a:xfrm>
          <a:prstGeom prst="rect">
            <a:avLst/>
          </a:prstGeom>
        </p:spPr>
        <p:txBody>
          <a:bodyPr anchor="t" rtlCol="false" tIns="0" lIns="0" bIns="0" rIns="0">
            <a:spAutoFit/>
          </a:bodyPr>
          <a:lstStyle/>
          <a:p>
            <a:pPr algn="just">
              <a:lnSpc>
                <a:spcPts val="2940"/>
              </a:lnSpc>
            </a:pPr>
            <a:r>
              <a:rPr lang="en-US" sz="2100">
                <a:solidFill>
                  <a:srgbClr val="000000"/>
                </a:solidFill>
                <a:latin typeface="Garet"/>
                <a:ea typeface="Garet"/>
                <a:cs typeface="Garet"/>
                <a:sym typeface="Garet"/>
              </a:rPr>
              <a:t>I</a:t>
            </a:r>
            <a:r>
              <a:rPr lang="en-US" sz="2100" b="true">
                <a:solidFill>
                  <a:srgbClr val="000000"/>
                </a:solidFill>
                <a:latin typeface="Garet Bold"/>
                <a:ea typeface="Garet Bold"/>
                <a:cs typeface="Garet Bold"/>
                <a:sym typeface="Garet Bold"/>
              </a:rPr>
              <a:t>nterpretasi: </a:t>
            </a:r>
          </a:p>
          <a:p>
            <a:pPr algn="just" marL="453395" indent="-226697" lvl="1">
              <a:lnSpc>
                <a:spcPts val="2940"/>
              </a:lnSpc>
              <a:buFont typeface="Arial"/>
              <a:buChar char="•"/>
            </a:pPr>
            <a:r>
              <a:rPr lang="en-US" sz="2100">
                <a:solidFill>
                  <a:srgbClr val="000000"/>
                </a:solidFill>
                <a:latin typeface="Garet"/>
                <a:ea typeface="Garet"/>
                <a:cs typeface="Garet"/>
                <a:sym typeface="Garet"/>
              </a:rPr>
              <a:t>Ketahanan Otak &amp; Fokus Meningkat: Mahasiswa yang rajin berolahraga memiliki konsentrasi lebih tinggi dan tidak mudah mengantuk. Aktivitas fisik meningkatkan suplai oksigen ke otak serta memicu protein BDNF yang mendukung kerja sel saraf dalam mencerna materi berat.</a:t>
            </a:r>
          </a:p>
          <a:p>
            <a:pPr algn="just" marL="453395" indent="-226697" lvl="1">
              <a:lnSpc>
                <a:spcPts val="2940"/>
              </a:lnSpc>
              <a:buFont typeface="Arial"/>
              <a:buChar char="•"/>
            </a:pPr>
            <a:r>
              <a:rPr lang="en-US" sz="2100">
                <a:solidFill>
                  <a:srgbClr val="000000"/>
                </a:solidFill>
                <a:latin typeface="Garet"/>
                <a:ea typeface="Garet"/>
                <a:cs typeface="Garet"/>
                <a:sym typeface="Garet"/>
              </a:rPr>
              <a:t>Reduksi Stres saat Mengerjakan Tugas: Kelompok dengan kebugaran baik merasa kurang tertekan dan tidak mudah frustrasi saat menghadapi tugas sulit. Olahraga efektif menurunkan hormon kortisol (stres) serta meningkatkan endorfin dan dopamin untuk regulasi emosi yang lebih stabil.</a:t>
            </a:r>
          </a:p>
          <a:p>
            <a:pPr algn="just" marL="453395" indent="-226697" lvl="1">
              <a:lnSpc>
                <a:spcPts val="2940"/>
              </a:lnSpc>
              <a:buFont typeface="Arial"/>
              <a:buChar char="•"/>
            </a:pPr>
            <a:r>
              <a:rPr lang="en-US" sz="2100">
                <a:solidFill>
                  <a:srgbClr val="000000"/>
                </a:solidFill>
                <a:latin typeface="Garet"/>
                <a:ea typeface="Garet"/>
                <a:cs typeface="Garet"/>
                <a:sym typeface="Garet"/>
              </a:rPr>
              <a:t>Konsistensi Gaya Hidup: Kedisiplinan meluangkan waktu untuk berolahraga membentuk self-discipline yang lebih baik dalam mengatur jadwal harian. Pola hidup aktif ini secara tidak langsung mendorong kebiasaan belajar yang lebih terstruktur dan konsisten.</a:t>
            </a:r>
          </a:p>
        </p:txBody>
      </p:sp>
      <p:sp>
        <p:nvSpPr>
          <p:cNvPr name="TextBox 11" id="11"/>
          <p:cNvSpPr txBox="true"/>
          <p:nvPr/>
        </p:nvSpPr>
        <p:spPr>
          <a:xfrm rot="0">
            <a:off x="11153710" y="51488"/>
            <a:ext cx="7895771" cy="669925"/>
          </a:xfrm>
          <a:prstGeom prst="rect">
            <a:avLst/>
          </a:prstGeom>
        </p:spPr>
        <p:txBody>
          <a:bodyPr anchor="t" rtlCol="false" tIns="0" lIns="0" bIns="0" rIns="0">
            <a:spAutoFit/>
          </a:bodyPr>
          <a:lstStyle/>
          <a:p>
            <a:pPr algn="ctr">
              <a:lnSpc>
                <a:spcPts val="5599"/>
              </a:lnSpc>
            </a:pPr>
            <a:r>
              <a:rPr lang="en-US" b="true" sz="3999">
                <a:solidFill>
                  <a:srgbClr val="FBFBFB"/>
                </a:solidFill>
                <a:latin typeface="Garet Bold"/>
                <a:ea typeface="Garet Bold"/>
                <a:cs typeface="Garet Bold"/>
                <a:sym typeface="Garet Bold"/>
              </a:rPr>
              <a:t>Visualisasi</a:t>
            </a:r>
          </a:p>
        </p:txBody>
      </p:sp>
    </p:spTree>
  </p:cSld>
  <p:clrMapOvr>
    <a:masterClrMapping/>
  </p:clrMapOvr>
  <p:transition spd="fast">
    <p:wipe dir="l"/>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TextBox 3" id="3"/>
          <p:cNvSpPr txBox="true"/>
          <p:nvPr/>
        </p:nvSpPr>
        <p:spPr>
          <a:xfrm rot="0">
            <a:off x="919263" y="2875807"/>
            <a:ext cx="16449475" cy="3853192"/>
          </a:xfrm>
          <a:prstGeom prst="rect">
            <a:avLst/>
          </a:prstGeom>
        </p:spPr>
        <p:txBody>
          <a:bodyPr anchor="t" rtlCol="false" tIns="0" lIns="0" bIns="0" rIns="0">
            <a:spAutoFit/>
          </a:bodyPr>
          <a:lstStyle/>
          <a:p>
            <a:pPr algn="just">
              <a:lnSpc>
                <a:spcPts val="3844"/>
              </a:lnSpc>
            </a:pPr>
            <a:r>
              <a:rPr lang="en-US" sz="2746">
                <a:solidFill>
                  <a:srgbClr val="000000"/>
                </a:solidFill>
                <a:latin typeface="Garet"/>
                <a:ea typeface="Garet"/>
                <a:cs typeface="Garet"/>
                <a:sym typeface="Garet"/>
              </a:rPr>
              <a:t>Pe</a:t>
            </a:r>
            <a:r>
              <a:rPr lang="en-US" sz="2746">
                <a:solidFill>
                  <a:srgbClr val="000000"/>
                </a:solidFill>
                <a:latin typeface="Garet"/>
                <a:ea typeface="Garet"/>
                <a:cs typeface="Garet"/>
                <a:sym typeface="Garet"/>
              </a:rPr>
              <a:t>n</a:t>
            </a:r>
            <a:r>
              <a:rPr lang="en-US" sz="2746">
                <a:solidFill>
                  <a:srgbClr val="000000"/>
                </a:solidFill>
                <a:latin typeface="Garet"/>
                <a:ea typeface="Garet"/>
                <a:cs typeface="Garet"/>
                <a:sym typeface="Garet"/>
              </a:rPr>
              <a:t>elitian </a:t>
            </a:r>
            <a:r>
              <a:rPr lang="en-US" sz="2746">
                <a:solidFill>
                  <a:srgbClr val="000000"/>
                </a:solidFill>
                <a:latin typeface="Garet"/>
                <a:ea typeface="Garet"/>
                <a:cs typeface="Garet"/>
                <a:sym typeface="Garet"/>
              </a:rPr>
              <a:t>ter</a:t>
            </a:r>
            <a:r>
              <a:rPr lang="en-US" sz="2746">
                <a:solidFill>
                  <a:srgbClr val="000000"/>
                </a:solidFill>
                <a:latin typeface="Garet"/>
                <a:ea typeface="Garet"/>
                <a:cs typeface="Garet"/>
                <a:sym typeface="Garet"/>
              </a:rPr>
              <a:t>hada</a:t>
            </a:r>
            <a:r>
              <a:rPr lang="en-US" sz="2746">
                <a:solidFill>
                  <a:srgbClr val="000000"/>
                </a:solidFill>
                <a:latin typeface="Garet"/>
                <a:ea typeface="Garet"/>
                <a:cs typeface="Garet"/>
                <a:sym typeface="Garet"/>
              </a:rPr>
              <a:t>p</a:t>
            </a:r>
            <a:r>
              <a:rPr lang="en-US" sz="2746">
                <a:solidFill>
                  <a:srgbClr val="000000"/>
                </a:solidFill>
                <a:latin typeface="Garet"/>
                <a:ea typeface="Garet"/>
                <a:cs typeface="Garet"/>
                <a:sym typeface="Garet"/>
              </a:rPr>
              <a:t> 52 </a:t>
            </a:r>
            <a:r>
              <a:rPr lang="en-US" sz="2746">
                <a:solidFill>
                  <a:srgbClr val="000000"/>
                </a:solidFill>
                <a:latin typeface="Garet"/>
                <a:ea typeface="Garet"/>
                <a:cs typeface="Garet"/>
                <a:sym typeface="Garet"/>
              </a:rPr>
              <a:t>res</a:t>
            </a:r>
            <a:r>
              <a:rPr lang="en-US" sz="2746">
                <a:solidFill>
                  <a:srgbClr val="000000"/>
                </a:solidFill>
                <a:latin typeface="Garet"/>
                <a:ea typeface="Garet"/>
                <a:cs typeface="Garet"/>
                <a:sym typeface="Garet"/>
              </a:rPr>
              <a:t>ponden</a:t>
            </a:r>
            <a:r>
              <a:rPr lang="en-US" sz="2746">
                <a:solidFill>
                  <a:srgbClr val="000000"/>
                </a:solidFill>
                <a:latin typeface="Garet"/>
                <a:ea typeface="Garet"/>
                <a:cs typeface="Garet"/>
                <a:sym typeface="Garet"/>
              </a:rPr>
              <a:t> </a:t>
            </a:r>
            <a:r>
              <a:rPr lang="en-US" sz="2746">
                <a:solidFill>
                  <a:srgbClr val="000000"/>
                </a:solidFill>
                <a:latin typeface="Garet"/>
                <a:ea typeface="Garet"/>
                <a:cs typeface="Garet"/>
                <a:sym typeface="Garet"/>
              </a:rPr>
              <a:t>dengan metode Convenience Sampling menunjukkan bahwa gaya hidup terutama pola tidur, kontrol gadget, dan aktivitas fisik berpengaruh signifikan terhadap kualitas belajar mahasiswa. Data secara konsisten mengindikasikan bahwa gaya hidup yang teratur berbanding lurus dengan peningkatan efisiensi belajar, daya ingat, dan partisipasi aktif di kelas. Meskipun jumlah sampel tidak memenuhi target awal 100 orang, hasil ini menegaskan bahwa perbaikan kebiasaan harian, seperti mengurangi begadang dan menjaga kebugaran, merupakan solusi strategis bagi mahasiswa untuk mengatasi kesulitan belajar dan mencapai hasil akademik yang optimal.</a:t>
            </a:r>
          </a:p>
        </p:txBody>
      </p:sp>
      <p:sp>
        <p:nvSpPr>
          <p:cNvPr name="TextBox 4" id="4"/>
          <p:cNvSpPr txBox="true"/>
          <p:nvPr/>
        </p:nvSpPr>
        <p:spPr>
          <a:xfrm rot="0">
            <a:off x="4349220" y="671052"/>
            <a:ext cx="10038214" cy="1377949"/>
          </a:xfrm>
          <a:prstGeom prst="rect">
            <a:avLst/>
          </a:prstGeom>
        </p:spPr>
        <p:txBody>
          <a:bodyPr anchor="t" rtlCol="false" tIns="0" lIns="0" bIns="0" rIns="0">
            <a:spAutoFit/>
          </a:bodyPr>
          <a:lstStyle/>
          <a:p>
            <a:pPr algn="ctr">
              <a:lnSpc>
                <a:spcPts val="11200"/>
              </a:lnSpc>
            </a:pPr>
            <a:r>
              <a:rPr lang="en-US" sz="8000">
                <a:solidFill>
                  <a:srgbClr val="0D0F68"/>
                </a:solidFill>
                <a:latin typeface="Yeseva One"/>
                <a:ea typeface="Yeseva One"/>
                <a:cs typeface="Yeseva One"/>
                <a:sym typeface="Yeseva One"/>
              </a:rPr>
              <a:t>Kesimpulan</a:t>
            </a:r>
          </a:p>
        </p:txBody>
      </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TextBox 3" id="3"/>
          <p:cNvSpPr txBox="true"/>
          <p:nvPr/>
        </p:nvSpPr>
        <p:spPr>
          <a:xfrm rot="0">
            <a:off x="3637877" y="561614"/>
            <a:ext cx="10038214" cy="1377949"/>
          </a:xfrm>
          <a:prstGeom prst="rect">
            <a:avLst/>
          </a:prstGeom>
        </p:spPr>
        <p:txBody>
          <a:bodyPr anchor="t" rtlCol="false" tIns="0" lIns="0" bIns="0" rIns="0">
            <a:spAutoFit/>
          </a:bodyPr>
          <a:lstStyle/>
          <a:p>
            <a:pPr algn="ctr">
              <a:lnSpc>
                <a:spcPts val="11200"/>
              </a:lnSpc>
            </a:pPr>
            <a:r>
              <a:rPr lang="en-US" sz="8000">
                <a:solidFill>
                  <a:srgbClr val="0D0F68"/>
                </a:solidFill>
                <a:latin typeface="Yeseva One"/>
                <a:ea typeface="Yeseva One"/>
                <a:cs typeface="Yeseva One"/>
                <a:sym typeface="Yeseva One"/>
              </a:rPr>
              <a:t>Daftar Pustaka</a:t>
            </a:r>
          </a:p>
        </p:txBody>
      </p:sp>
      <p:sp>
        <p:nvSpPr>
          <p:cNvPr name="TextBox 4" id="4"/>
          <p:cNvSpPr txBox="true"/>
          <p:nvPr/>
        </p:nvSpPr>
        <p:spPr>
          <a:xfrm rot="0">
            <a:off x="919263" y="3927539"/>
            <a:ext cx="16340037" cy="2384296"/>
          </a:xfrm>
          <a:prstGeom prst="rect">
            <a:avLst/>
          </a:prstGeom>
        </p:spPr>
        <p:txBody>
          <a:bodyPr anchor="t" rtlCol="false" tIns="0" lIns="0" bIns="0" rIns="0">
            <a:spAutoFit/>
          </a:bodyPr>
          <a:lstStyle/>
          <a:p>
            <a:pPr algn="just">
              <a:lnSpc>
                <a:spcPts val="3819"/>
              </a:lnSpc>
            </a:pPr>
            <a:r>
              <a:rPr lang="en-US" sz="2728">
                <a:solidFill>
                  <a:srgbClr val="000000"/>
                </a:solidFill>
                <a:latin typeface="Garet"/>
                <a:ea typeface="Garet"/>
                <a:cs typeface="Garet"/>
                <a:sym typeface="Garet"/>
              </a:rPr>
              <a:t>[1] https://media.neliti.com/media/publications/100626-ID-hubungan-antara-gaya-hidup-dengan-presta.pdf</a:t>
            </a:r>
          </a:p>
          <a:p>
            <a:pPr algn="just">
              <a:lnSpc>
                <a:spcPts val="3819"/>
              </a:lnSpc>
            </a:pPr>
            <a:r>
              <a:rPr lang="en-US" sz="2728">
                <a:solidFill>
                  <a:srgbClr val="000000"/>
                </a:solidFill>
                <a:latin typeface="Garet"/>
                <a:ea typeface="Garet"/>
                <a:cs typeface="Garet"/>
                <a:sym typeface="Garet"/>
              </a:rPr>
              <a:t>[2] https://www.journal.lppmunindra.ac.id/index.php/Formatif/article/download/336/321</a:t>
            </a:r>
          </a:p>
          <a:p>
            <a:pPr algn="just">
              <a:lnSpc>
                <a:spcPts val="3819"/>
              </a:lnSpc>
            </a:pPr>
            <a:r>
              <a:rPr lang="en-US" sz="2728">
                <a:solidFill>
                  <a:srgbClr val="000000"/>
                </a:solidFill>
                <a:latin typeface="Garet"/>
                <a:ea typeface="Garet"/>
                <a:cs typeface="Garet"/>
                <a:sym typeface="Garet"/>
              </a:rPr>
              <a:t>[3] https://www.journals.stimsukmamedan.ac.id/index.php/ilman/article/view/65</a:t>
            </a:r>
          </a:p>
          <a:p>
            <a:pPr algn="just">
              <a:lnSpc>
                <a:spcPts val="3819"/>
              </a:lnSpc>
            </a:pPr>
            <a:r>
              <a:rPr lang="en-US" sz="2728">
                <a:solidFill>
                  <a:srgbClr val="000000"/>
                </a:solidFill>
                <a:latin typeface="Garet"/>
                <a:ea typeface="Garet"/>
                <a:cs typeface="Garet"/>
                <a:sym typeface="Garet"/>
              </a:rPr>
              <a:t>[4] https://www.journal.lppmunindra.ac.id/index.php/Formatif/article/download/336/321</a:t>
            </a: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TextBox 3" id="3"/>
          <p:cNvSpPr txBox="true"/>
          <p:nvPr/>
        </p:nvSpPr>
        <p:spPr>
          <a:xfrm rot="0">
            <a:off x="809825" y="2604946"/>
            <a:ext cx="16449475" cy="1435194"/>
          </a:xfrm>
          <a:prstGeom prst="rect">
            <a:avLst/>
          </a:prstGeom>
        </p:spPr>
        <p:txBody>
          <a:bodyPr anchor="t" rtlCol="false" tIns="0" lIns="0" bIns="0" rIns="0">
            <a:spAutoFit/>
          </a:bodyPr>
          <a:lstStyle/>
          <a:p>
            <a:pPr algn="just">
              <a:lnSpc>
                <a:spcPts val="3844"/>
              </a:lnSpc>
            </a:pPr>
            <a:r>
              <a:rPr lang="en-US" sz="2746" u="sng">
                <a:solidFill>
                  <a:srgbClr val="000000"/>
                </a:solidFill>
                <a:latin typeface="Garet"/>
                <a:ea typeface="Garet"/>
                <a:cs typeface="Garet"/>
                <a:sym typeface="Garet"/>
              </a:rPr>
              <a:t>L</a:t>
            </a:r>
            <a:r>
              <a:rPr lang="en-US" sz="2746">
                <a:solidFill>
                  <a:srgbClr val="000000"/>
                </a:solidFill>
                <a:latin typeface="Garet"/>
                <a:ea typeface="Garet"/>
                <a:cs typeface="Garet"/>
                <a:sym typeface="Garet"/>
              </a:rPr>
              <a:t>ink Koesioner:</a:t>
            </a:r>
          </a:p>
          <a:p>
            <a:pPr algn="just">
              <a:lnSpc>
                <a:spcPts val="3844"/>
              </a:lnSpc>
            </a:pPr>
            <a:r>
              <a:rPr lang="en-US" sz="2746" u="sng">
                <a:solidFill>
                  <a:srgbClr val="000000"/>
                </a:solidFill>
                <a:latin typeface="Garet"/>
                <a:ea typeface="Garet"/>
                <a:cs typeface="Garet"/>
                <a:sym typeface="Garet"/>
                <a:hlinkClick r:id="rId3" tooltip="https://docs.google.com/forms/d/e/1FAIpQLScWrl--P29v2gyQqAc8NcYHyeETi-mdYmKfmZ0X9L2hlv2kJA/viewform?usp=header]"/>
              </a:rPr>
              <a:t>https://docs.google.com/forms/d/e/1FAIpQLScWrl--P29v2gyQqAc8NcYHyeETi-mdYmKfmZ0X9L2hlv2kJA/viewform?usp=header]</a:t>
            </a:r>
          </a:p>
        </p:txBody>
      </p:sp>
      <p:sp>
        <p:nvSpPr>
          <p:cNvPr name="TextBox 4" id="4"/>
          <p:cNvSpPr txBox="true"/>
          <p:nvPr/>
        </p:nvSpPr>
        <p:spPr>
          <a:xfrm rot="0">
            <a:off x="3637877" y="561614"/>
            <a:ext cx="10038214" cy="1377949"/>
          </a:xfrm>
          <a:prstGeom prst="rect">
            <a:avLst/>
          </a:prstGeom>
        </p:spPr>
        <p:txBody>
          <a:bodyPr anchor="t" rtlCol="false" tIns="0" lIns="0" bIns="0" rIns="0">
            <a:spAutoFit/>
          </a:bodyPr>
          <a:lstStyle/>
          <a:p>
            <a:pPr algn="ctr">
              <a:lnSpc>
                <a:spcPts val="11200"/>
              </a:lnSpc>
            </a:pPr>
            <a:r>
              <a:rPr lang="en-US" sz="8000">
                <a:solidFill>
                  <a:srgbClr val="0D0F68"/>
                </a:solidFill>
                <a:latin typeface="Yeseva One"/>
                <a:ea typeface="Yeseva One"/>
                <a:cs typeface="Yeseva One"/>
                <a:sym typeface="Yeseva One"/>
              </a:rPr>
              <a:t>Lampiran</a:t>
            </a:r>
          </a:p>
        </p:txBody>
      </p:sp>
      <p:sp>
        <p:nvSpPr>
          <p:cNvPr name="TextBox 5" id="5"/>
          <p:cNvSpPr txBox="true"/>
          <p:nvPr/>
        </p:nvSpPr>
        <p:spPr>
          <a:xfrm rot="0">
            <a:off x="809825" y="4402090"/>
            <a:ext cx="16449475" cy="1435194"/>
          </a:xfrm>
          <a:prstGeom prst="rect">
            <a:avLst/>
          </a:prstGeom>
        </p:spPr>
        <p:txBody>
          <a:bodyPr anchor="t" rtlCol="false" tIns="0" lIns="0" bIns="0" rIns="0">
            <a:spAutoFit/>
          </a:bodyPr>
          <a:lstStyle/>
          <a:p>
            <a:pPr algn="just">
              <a:lnSpc>
                <a:spcPts val="3844"/>
              </a:lnSpc>
            </a:pPr>
            <a:r>
              <a:rPr lang="en-US" sz="2746" u="sng">
                <a:solidFill>
                  <a:srgbClr val="000000"/>
                </a:solidFill>
                <a:latin typeface="Garet"/>
                <a:ea typeface="Garet"/>
                <a:cs typeface="Garet"/>
                <a:sym typeface="Garet"/>
                <a:hlinkClick r:id="rId4" tooltip="https://github.com/adindaadeliafutri6-gif/Data-responden-survey-pengaruh-gaya-hidup-terhadap-kualitas-belajar-mahasiswa"/>
              </a:rPr>
              <a:t> Link Data Responden:</a:t>
            </a:r>
          </a:p>
          <a:p>
            <a:pPr algn="just">
              <a:lnSpc>
                <a:spcPts val="3844"/>
              </a:lnSpc>
            </a:pPr>
            <a:r>
              <a:rPr lang="en-US" sz="2746" u="sng">
                <a:solidFill>
                  <a:srgbClr val="000000"/>
                </a:solidFill>
                <a:latin typeface="Garet"/>
                <a:ea typeface="Garet"/>
                <a:cs typeface="Garet"/>
                <a:sym typeface="Garet"/>
              </a:rPr>
              <a:t>https://github.com/adindaadeliafutri6-gif/Data-responden-survey-pengaruh-gaya-hidup-terhadap-kualitas-belajar-mahasiswa</a:t>
            </a:r>
          </a:p>
        </p:txBody>
      </p:sp>
      <p:sp>
        <p:nvSpPr>
          <p:cNvPr name="TextBox 6" id="6"/>
          <p:cNvSpPr txBox="true"/>
          <p:nvPr/>
        </p:nvSpPr>
        <p:spPr>
          <a:xfrm rot="0">
            <a:off x="809825" y="6197481"/>
            <a:ext cx="16449475" cy="949419"/>
          </a:xfrm>
          <a:prstGeom prst="rect">
            <a:avLst/>
          </a:prstGeom>
        </p:spPr>
        <p:txBody>
          <a:bodyPr anchor="t" rtlCol="false" tIns="0" lIns="0" bIns="0" rIns="0">
            <a:spAutoFit/>
          </a:bodyPr>
          <a:lstStyle/>
          <a:p>
            <a:pPr algn="just">
              <a:lnSpc>
                <a:spcPts val="3844"/>
              </a:lnSpc>
            </a:pPr>
            <a:r>
              <a:rPr lang="en-US" sz="2746" u="sng">
                <a:solidFill>
                  <a:srgbClr val="000000"/>
                </a:solidFill>
                <a:latin typeface="Garet"/>
                <a:ea typeface="Garet"/>
                <a:cs typeface="Garet"/>
                <a:sym typeface="Garet"/>
                <a:hlinkClick r:id="rId5" tooltip="https://rpubs.com/futri0055/1432628"/>
              </a:rPr>
              <a:t>Link Note (rpubs)</a:t>
            </a:r>
          </a:p>
          <a:p>
            <a:pPr algn="just">
              <a:lnSpc>
                <a:spcPts val="3844"/>
              </a:lnSpc>
            </a:pPr>
            <a:r>
              <a:rPr lang="en-US" sz="2746" u="sng">
                <a:solidFill>
                  <a:srgbClr val="000000"/>
                </a:solidFill>
                <a:latin typeface="Garet"/>
                <a:ea typeface="Garet"/>
                <a:cs typeface="Garet"/>
                <a:sym typeface="Garet"/>
                <a:hlinkClick r:id="rId6" tooltip="https://rpubs.com/futri0055/1432628"/>
              </a:rPr>
              <a:t>https://rpubs.com/futri0055/1432628</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6461125"/>
            <a:ext cx="3450800" cy="2967688"/>
          </a:xfrm>
          <a:custGeom>
            <a:avLst/>
            <a:gdLst/>
            <a:ahLst/>
            <a:cxnLst/>
            <a:rect r="r" b="b" t="t" l="l"/>
            <a:pathLst>
              <a:path h="2967688" w="3450800">
                <a:moveTo>
                  <a:pt x="0" y="0"/>
                </a:moveTo>
                <a:lnTo>
                  <a:pt x="3450800" y="0"/>
                </a:lnTo>
                <a:lnTo>
                  <a:pt x="3450800" y="2967688"/>
                </a:lnTo>
                <a:lnTo>
                  <a:pt x="0" y="29676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124893" y="3663950"/>
            <a:ext cx="10038214" cy="2797174"/>
          </a:xfrm>
          <a:prstGeom prst="rect">
            <a:avLst/>
          </a:prstGeom>
        </p:spPr>
        <p:txBody>
          <a:bodyPr anchor="t" rtlCol="false" tIns="0" lIns="0" bIns="0" rIns="0">
            <a:spAutoFit/>
          </a:bodyPr>
          <a:lstStyle/>
          <a:p>
            <a:pPr algn="ctr">
              <a:lnSpc>
                <a:spcPts val="11200"/>
              </a:lnSpc>
            </a:pPr>
            <a:r>
              <a:rPr lang="en-US" sz="8000">
                <a:solidFill>
                  <a:srgbClr val="0D0F68"/>
                </a:solidFill>
                <a:latin typeface="Yeseva One"/>
                <a:ea typeface="Yeseva One"/>
                <a:cs typeface="Yeseva One"/>
                <a:sym typeface="Yeseva One"/>
              </a:rPr>
              <a:t>Question and Answe﻿r... </a:t>
            </a:r>
          </a:p>
        </p:txBody>
      </p:sp>
    </p:spTree>
  </p:cSld>
  <p:clrMapOvr>
    <a:masterClrMapping/>
  </p:clrMapOvr>
  <p:transition spd="fast">
    <p:circl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TextBox 3" id="3"/>
          <p:cNvSpPr txBox="true"/>
          <p:nvPr/>
        </p:nvSpPr>
        <p:spPr>
          <a:xfrm rot="0">
            <a:off x="3957143" y="3533213"/>
            <a:ext cx="10373714" cy="2008404"/>
          </a:xfrm>
          <a:prstGeom prst="rect">
            <a:avLst/>
          </a:prstGeom>
        </p:spPr>
        <p:txBody>
          <a:bodyPr anchor="t" rtlCol="false" tIns="0" lIns="0" bIns="0" rIns="0">
            <a:spAutoFit/>
          </a:bodyPr>
          <a:lstStyle/>
          <a:p>
            <a:pPr algn="ctr">
              <a:lnSpc>
                <a:spcPts val="16350"/>
              </a:lnSpc>
            </a:pPr>
            <a:r>
              <a:rPr lang="en-US" sz="11679">
                <a:solidFill>
                  <a:srgbClr val="0D0F68"/>
                </a:solidFill>
                <a:latin typeface="Yeseva One"/>
                <a:ea typeface="Yeseva One"/>
                <a:cs typeface="Yeseva One"/>
                <a:sym typeface="Yeseva One"/>
              </a:rPr>
              <a:t>Thank You</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DAHJhbw_pv0</dc:identifier>
  <dcterms:modified xsi:type="dcterms:W3CDTF">2011-08-01T06:04:30Z</dcterms:modified>
  <cp:revision>1</cp:revision>
  <dc:title>sampling kel 5</dc:title>
</cp:coreProperties>
</file>